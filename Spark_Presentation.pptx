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9" r:id="rId3"/>
    <p:sldId id="257" r:id="rId4"/>
    <p:sldId id="260" r:id="rId5"/>
    <p:sldId id="258"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derstanding Big Data and Distributed Data Processing" id="{D1EBFD9F-00C8-4B8D-9554-9D011B0C30F8}">
          <p14:sldIdLst>
            <p14:sldId id="256"/>
            <p14:sldId id="259"/>
            <p14:sldId id="257"/>
            <p14:sldId id="260"/>
          </p14:sldIdLst>
        </p14:section>
        <p14:section name="Introduction to Apache Spark" id="{2ED09D84-F543-415F-9A4B-6630782E38A2}">
          <p14:sldIdLst>
            <p14:sldId id="258"/>
            <p14:sldId id="261"/>
            <p14:sldId id="262"/>
            <p14:sldId id="263"/>
            <p14:sldId id="264"/>
            <p14:sldId id="265"/>
            <p14:sldId id="266"/>
            <p14:sldId id="267"/>
            <p14:sldId id="268"/>
            <p14:sldId id="269"/>
          </p14:sldIdLst>
        </p14:section>
        <p14:section name="Getting Started with PySpark" id="{AF4D0FC5-015E-4F20-B5CF-7A7200E3476E}">
          <p14:sldIdLst>
            <p14:sldId id="270"/>
            <p14:sldId id="271"/>
            <p14:sldId id="272"/>
            <p14:sldId id="273"/>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5" d="100"/>
          <a:sy n="75" d="100"/>
        </p:scale>
        <p:origin x="1296" y="29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91973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Big Data challenges traditional data processing tools. Hadoop uses HDFS for storage and MapReduce for computation. HDFS allows users to work with large datasets efficiently. MapReduce distributes computational tasks for scalability.</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EEE91-A41F-59E7-49E0-564B2C12C8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16BE03-B5F6-CAA3-A3C9-10DD55D6262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D27178C7-B185-1017-27EA-7ABA20DC7C60}"/>
              </a:ext>
            </a:extLst>
          </p:cNvPr>
          <p:cNvSpPr>
            <a:spLocks noGrp="1"/>
          </p:cNvSpPr>
          <p:nvPr>
            <p:ph type="body" sz="quarter" idx="3"/>
          </p:nvPr>
        </p:nvSpPr>
        <p:spPr/>
        <p:txBody>
          <a:bodyPr/>
          <a:lstStyle/>
          <a:p>
            <a:r>
              <a:t>Big Data challenges traditional data processing tools. Hadoop uses HDFS for storage and MapReduce for computation. HDFS allows users to work with large datasets efficiently. MapReduce distributes computational tasks for scalability.</a:t>
            </a:r>
          </a:p>
        </p:txBody>
      </p:sp>
      <p:sp>
        <p:nvSpPr>
          <p:cNvPr id="4" name="Slide Number Placeholder 3">
            <a:extLst>
              <a:ext uri="{FF2B5EF4-FFF2-40B4-BE49-F238E27FC236}">
                <a16:creationId xmlns:a16="http://schemas.microsoft.com/office/drawing/2014/main" id="{D29AC0F5-FA75-859D-0235-E8EC778C29E0}"/>
              </a:ext>
            </a:extLst>
          </p:cNvPr>
          <p:cNvSpPr>
            <a:spLocks noGrp="1"/>
          </p:cNvSpPr>
          <p:nvPr>
            <p:ph type="sldNum" sz="quarter" idx="5"/>
          </p:nvPr>
        </p:nvSpPr>
        <p:spPr/>
      </p:sp>
    </p:spTree>
    <p:extLst>
      <p:ext uri="{BB962C8B-B14F-4D97-AF65-F5344CB8AC3E}">
        <p14:creationId xmlns:p14="http://schemas.microsoft.com/office/powerpoint/2010/main" val="28527714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Spark offers significant speed and flexibility advantages over MapReduce. RDDs are the core of Spark, enabling distributed and fault-tolerant data processing. DataFrames provide a more efficient and user-friendly way to handle data in Spark.</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Spark is designed for cluster computing, making it scalable and efficient. Databricks simplifies Spark setup and management, especially for Python users. Spark’s architecture supports robust distributed processing.</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EA8CD-31BD-B26A-93D8-FFB638A9E8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E32EC4-029C-3A33-7892-166A4EADD3D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2F733A5-6014-11B0-1DF8-626BEC86E0A5}"/>
              </a:ext>
            </a:extLst>
          </p:cNvPr>
          <p:cNvSpPr>
            <a:spLocks noGrp="1"/>
          </p:cNvSpPr>
          <p:nvPr>
            <p:ph type="body" sz="quarter" idx="3"/>
          </p:nvPr>
        </p:nvSpPr>
        <p:spPr/>
        <p:txBody>
          <a:bodyPr/>
          <a:lstStyle/>
          <a:p>
            <a:r>
              <a:t>Spark is designed for cluster computing, making it scalable and efficient. Databricks simplifies Spark setup and management, especially for Python users. Spark’s architecture supports robust distributed processing.</a:t>
            </a:r>
          </a:p>
        </p:txBody>
      </p:sp>
      <p:sp>
        <p:nvSpPr>
          <p:cNvPr id="4" name="Slide Number Placeholder 3">
            <a:extLst>
              <a:ext uri="{FF2B5EF4-FFF2-40B4-BE49-F238E27FC236}">
                <a16:creationId xmlns:a16="http://schemas.microsoft.com/office/drawing/2014/main" id="{F88398FF-CF21-F1E8-C57C-3059802A43B7}"/>
              </a:ext>
            </a:extLst>
          </p:cNvPr>
          <p:cNvSpPr>
            <a:spLocks noGrp="1"/>
          </p:cNvSpPr>
          <p:nvPr>
            <p:ph type="sldNum" sz="quarter" idx="5"/>
          </p:nvPr>
        </p:nvSpPr>
        <p:spPr/>
      </p:sp>
    </p:spTree>
    <p:extLst>
      <p:ext uri="{BB962C8B-B14F-4D97-AF65-F5344CB8AC3E}">
        <p14:creationId xmlns:p14="http://schemas.microsoft.com/office/powerpoint/2010/main" val="19647792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4D4A5-20BA-1A55-DB06-D59BCD5AAB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A400E3-6FDF-B46F-8DDB-828560F1E09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B57EC1E-F700-B3DD-506E-D13FAE82A245}"/>
              </a:ext>
            </a:extLst>
          </p:cNvPr>
          <p:cNvSpPr>
            <a:spLocks noGrp="1"/>
          </p:cNvSpPr>
          <p:nvPr>
            <p:ph type="body" sz="quarter" idx="3"/>
          </p:nvPr>
        </p:nvSpPr>
        <p:spPr/>
        <p:txBody>
          <a:bodyPr/>
          <a:lstStyle/>
          <a:p>
            <a:r>
              <a:t>Spark is designed for cluster computing, making it scalable and efficient. Databricks simplifies Spark setup and management, especially for Python users. Spark’s architecture supports robust distributed processing.</a:t>
            </a:r>
          </a:p>
        </p:txBody>
      </p:sp>
      <p:sp>
        <p:nvSpPr>
          <p:cNvPr id="4" name="Slide Number Placeholder 3">
            <a:extLst>
              <a:ext uri="{FF2B5EF4-FFF2-40B4-BE49-F238E27FC236}">
                <a16:creationId xmlns:a16="http://schemas.microsoft.com/office/drawing/2014/main" id="{A57155C4-AD03-2495-EF07-7376308E00CF}"/>
              </a:ext>
            </a:extLst>
          </p:cNvPr>
          <p:cNvSpPr>
            <a:spLocks noGrp="1"/>
          </p:cNvSpPr>
          <p:nvPr>
            <p:ph type="sldNum" sz="quarter" idx="5"/>
          </p:nvPr>
        </p:nvSpPr>
        <p:spPr/>
      </p:sp>
    </p:spTree>
    <p:extLst>
      <p:ext uri="{BB962C8B-B14F-4D97-AF65-F5344CB8AC3E}">
        <p14:creationId xmlns:p14="http://schemas.microsoft.com/office/powerpoint/2010/main" val="31286272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databricks.com/try-databricks"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63319"/>
          </a:xfrm>
        </p:spPr>
        <p:txBody>
          <a:bodyPr>
            <a:noAutofit/>
          </a:bodyPr>
          <a:lstStyle/>
          <a:p>
            <a:r>
              <a:rPr sz="3200" dirty="0"/>
              <a:t>Understanding Big Data and Distributed Data Processing</a:t>
            </a:r>
          </a:p>
        </p:txBody>
      </p:sp>
      <p:sp>
        <p:nvSpPr>
          <p:cNvPr id="3" name="Content Placeholder 2"/>
          <p:cNvSpPr>
            <a:spLocks noGrp="1"/>
          </p:cNvSpPr>
          <p:nvPr>
            <p:ph idx="1"/>
          </p:nvPr>
        </p:nvSpPr>
        <p:spPr>
          <a:xfrm>
            <a:off x="457200" y="1237958"/>
            <a:ext cx="8229600" cy="4888206"/>
          </a:xfrm>
        </p:spPr>
        <p:txBody>
          <a:bodyPr>
            <a:normAutofit fontScale="92500" lnSpcReduction="10000"/>
          </a:bodyPr>
          <a:lstStyle/>
          <a:p>
            <a:pPr marL="0" indent="0">
              <a:buNone/>
            </a:pPr>
            <a:r>
              <a:rPr lang="en-US" sz="2400" dirty="0"/>
              <a:t>Hadoop </a:t>
            </a:r>
          </a:p>
          <a:p>
            <a:r>
              <a:rPr lang="en-US" sz="2400" dirty="0"/>
              <a:t>Is a way to distribute very large files across multiple machines. </a:t>
            </a:r>
          </a:p>
          <a:p>
            <a:r>
              <a:rPr lang="en-US" sz="2400" dirty="0"/>
              <a:t>It uses Hadoop Distributed File System(HDFS).</a:t>
            </a:r>
          </a:p>
          <a:p>
            <a:r>
              <a:rPr lang="en-US" sz="2400" dirty="0"/>
              <a:t>HDFS allows a user to work with large data sets</a:t>
            </a:r>
          </a:p>
          <a:p>
            <a:r>
              <a:rPr lang="en-US" sz="2400" dirty="0"/>
              <a:t>HDFS uses MapReduce, which allows computations on that distributed data.</a:t>
            </a:r>
          </a:p>
          <a:p>
            <a:r>
              <a:rPr lang="en-US" sz="2400" dirty="0"/>
              <a:t>MapReduce is a way of splitting a computation task to a distributed set of files(such as HDFS)</a:t>
            </a:r>
          </a:p>
          <a:p>
            <a:endParaRPr lang="en-US" sz="2400" dirty="0"/>
          </a:p>
          <a:p>
            <a:pPr marL="0" indent="0">
              <a:buNone/>
            </a:pPr>
            <a:r>
              <a:rPr lang="en-US" sz="2400" dirty="0"/>
              <a:t>So, we use:</a:t>
            </a:r>
          </a:p>
          <a:p>
            <a:r>
              <a:rPr lang="en-US" sz="2400" dirty="0"/>
              <a:t>-HDFS to distribute large data sets</a:t>
            </a:r>
          </a:p>
          <a:p>
            <a:r>
              <a:rPr lang="en-US" sz="2400" dirty="0"/>
              <a:t>-MapReduce to distribute a computational task to a distributed data set.</a:t>
            </a:r>
          </a:p>
          <a:p>
            <a:pPr marL="0" indent="0">
              <a:buNone/>
            </a:pP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990582-9DD4-03AF-1BD9-DDF79B83C2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FD213B-DDCB-F1AE-8368-164ED99305A0}"/>
              </a:ext>
            </a:extLst>
          </p:cNvPr>
          <p:cNvSpPr>
            <a:spLocks noGrp="1"/>
          </p:cNvSpPr>
          <p:nvPr>
            <p:ph type="title"/>
          </p:nvPr>
        </p:nvSpPr>
        <p:spPr>
          <a:xfrm>
            <a:off x="457200" y="274639"/>
            <a:ext cx="8229600" cy="457198"/>
          </a:xfrm>
        </p:spPr>
        <p:txBody>
          <a:bodyPr>
            <a:noAutofit/>
          </a:bodyPr>
          <a:lstStyle/>
          <a:p>
            <a:r>
              <a:rPr sz="2400" dirty="0"/>
              <a:t>Understanding Big Data and Distributed Data Processing</a:t>
            </a:r>
          </a:p>
        </p:txBody>
      </p:sp>
      <p:sp>
        <p:nvSpPr>
          <p:cNvPr id="3" name="Content Placeholder 2">
            <a:extLst>
              <a:ext uri="{FF2B5EF4-FFF2-40B4-BE49-F238E27FC236}">
                <a16:creationId xmlns:a16="http://schemas.microsoft.com/office/drawing/2014/main" id="{A5244B6A-E30D-8F53-3FC9-05B2AEC720EA}"/>
              </a:ext>
            </a:extLst>
          </p:cNvPr>
          <p:cNvSpPr>
            <a:spLocks noGrp="1"/>
          </p:cNvSpPr>
          <p:nvPr>
            <p:ph idx="1"/>
          </p:nvPr>
        </p:nvSpPr>
        <p:spPr>
          <a:xfrm>
            <a:off x="457200" y="731837"/>
            <a:ext cx="8229600" cy="5394327"/>
          </a:xfrm>
        </p:spPr>
        <p:txBody>
          <a:bodyPr>
            <a:normAutofit fontScale="70000" lnSpcReduction="20000"/>
          </a:bodyPr>
          <a:lstStyle/>
          <a:p>
            <a:pPr marL="0" indent="0">
              <a:buNone/>
            </a:pPr>
            <a:endParaRPr lang="en-US" sz="2400" dirty="0"/>
          </a:p>
          <a:p>
            <a:pPr marL="0" indent="0">
              <a:buNone/>
            </a:pPr>
            <a:r>
              <a:rPr lang="en-US" sz="2400" dirty="0"/>
              <a:t>Spark vs MapReduce</a:t>
            </a:r>
          </a:p>
          <a:p>
            <a:r>
              <a:rPr lang="en-US" sz="2400" dirty="0"/>
              <a:t>-MapReduce requires files to be stored in HDFS, Spark DOES NOT</a:t>
            </a:r>
          </a:p>
          <a:p>
            <a:r>
              <a:rPr lang="en-US" sz="2400" dirty="0"/>
              <a:t>-Spark can perform up to 100x faster than MapReduce</a:t>
            </a:r>
          </a:p>
          <a:p>
            <a:r>
              <a:rPr lang="en-US" sz="2400" dirty="0"/>
              <a:t>-Spark can spill over to disk if the memory is filled</a:t>
            </a:r>
          </a:p>
          <a:p>
            <a:r>
              <a:rPr lang="en-US" sz="2400" dirty="0"/>
              <a:t>-At the core of Spark is Resilient Distributed Dataset(RDD)</a:t>
            </a:r>
          </a:p>
          <a:p>
            <a:r>
              <a:rPr lang="en-US" sz="2400" dirty="0"/>
              <a:t>-RDD has 4 main features:</a:t>
            </a:r>
          </a:p>
          <a:p>
            <a:pPr marL="0" indent="0">
              <a:buNone/>
            </a:pPr>
            <a:r>
              <a:rPr lang="en-US" sz="2400" dirty="0"/>
              <a:t> 	*Distributed Collection of Data</a:t>
            </a:r>
          </a:p>
          <a:p>
            <a:pPr marL="0" indent="0">
              <a:buNone/>
            </a:pPr>
            <a:r>
              <a:rPr lang="en-US" sz="2400" dirty="0"/>
              <a:t> 	*Fault-tolerant</a:t>
            </a:r>
          </a:p>
          <a:p>
            <a:pPr marL="0" indent="0">
              <a:buNone/>
            </a:pPr>
            <a:r>
              <a:rPr lang="en-US" sz="2400" dirty="0"/>
              <a:t> 	*Parallel operation-partitioned</a:t>
            </a:r>
          </a:p>
          <a:p>
            <a:pPr marL="0" indent="0">
              <a:buNone/>
            </a:pPr>
            <a:r>
              <a:rPr lang="en-US" sz="2400" dirty="0"/>
              <a:t> 	*Ability to use many data sources</a:t>
            </a:r>
          </a:p>
          <a:p>
            <a:r>
              <a:rPr lang="en-US" sz="2400" dirty="0"/>
              <a:t>RDDs are immutable</a:t>
            </a:r>
          </a:p>
          <a:p>
            <a:r>
              <a:rPr lang="en-US" sz="2400" dirty="0"/>
              <a:t>-Two types: </a:t>
            </a:r>
          </a:p>
          <a:p>
            <a:pPr marL="0" indent="0">
              <a:buNone/>
            </a:pPr>
            <a:r>
              <a:rPr lang="en-US" sz="2400" dirty="0"/>
              <a:t> 	 *Transformations: Are the recipe to follow</a:t>
            </a:r>
          </a:p>
          <a:p>
            <a:pPr marL="0" indent="0">
              <a:buNone/>
            </a:pPr>
            <a:r>
              <a:rPr lang="en-US" sz="2400" dirty="0"/>
              <a:t>  	*Actions:         Perform what the recipe says to do and return </a:t>
            </a:r>
            <a:r>
              <a:rPr lang="en-US" sz="2400" dirty="0" err="1"/>
              <a:t>sth</a:t>
            </a:r>
            <a:r>
              <a:rPr lang="en-US" sz="2400" dirty="0"/>
              <a:t>. back.</a:t>
            </a:r>
          </a:p>
          <a:p>
            <a:endParaRPr lang="en-US" sz="2400" dirty="0"/>
          </a:p>
          <a:p>
            <a:pPr marL="0" indent="0">
              <a:buNone/>
            </a:pPr>
            <a:r>
              <a:rPr lang="en-US" sz="2400" dirty="0"/>
              <a:t>RDD vs </a:t>
            </a:r>
            <a:r>
              <a:rPr lang="en-US" sz="2400" dirty="0" err="1"/>
              <a:t>Dataframe</a:t>
            </a:r>
            <a:endParaRPr lang="en-US" sz="2400" dirty="0"/>
          </a:p>
          <a:p>
            <a:r>
              <a:rPr lang="en-US" sz="2400" dirty="0"/>
              <a:t>-Spark 2.0 moved from RDD to </a:t>
            </a:r>
            <a:r>
              <a:rPr lang="en-US" sz="2400" dirty="0" err="1"/>
              <a:t>Dataframes</a:t>
            </a:r>
            <a:endParaRPr lang="en-US" sz="2400" dirty="0"/>
          </a:p>
          <a:p>
            <a:r>
              <a:rPr lang="en-US" sz="2400" dirty="0"/>
              <a:t>-Spark </a:t>
            </a:r>
            <a:r>
              <a:rPr lang="en-US" sz="2400" dirty="0" err="1"/>
              <a:t>dataframe</a:t>
            </a:r>
            <a:r>
              <a:rPr lang="en-US" sz="2400" dirty="0"/>
              <a:t> documentation</a:t>
            </a:r>
            <a:endParaRPr sz="2400" dirty="0"/>
          </a:p>
        </p:txBody>
      </p:sp>
    </p:spTree>
    <p:extLst>
      <p:ext uri="{BB962C8B-B14F-4D97-AF65-F5344CB8AC3E}">
        <p14:creationId xmlns:p14="http://schemas.microsoft.com/office/powerpoint/2010/main" val="17816429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Spark vs MapReduce &amp; RDDs</a:t>
            </a:r>
          </a:p>
        </p:txBody>
      </p:sp>
      <p:sp>
        <p:nvSpPr>
          <p:cNvPr id="3" name="Content Placeholder 2"/>
          <p:cNvSpPr>
            <a:spLocks noGrp="1"/>
          </p:cNvSpPr>
          <p:nvPr>
            <p:ph idx="1"/>
          </p:nvPr>
        </p:nvSpPr>
        <p:spPr/>
        <p:txBody>
          <a:bodyPr>
            <a:noAutofit/>
          </a:bodyPr>
          <a:lstStyle/>
          <a:p>
            <a:pPr marL="0" indent="0">
              <a:buNone/>
            </a:pPr>
            <a:r>
              <a:rPr sz="2400" dirty="0"/>
              <a:t>Spark vs MapReduce:</a:t>
            </a:r>
          </a:p>
          <a:p>
            <a:r>
              <a:rPr sz="2400" dirty="0"/>
              <a:t>- Spark doesn’t require HDFS; up to 100x faster.</a:t>
            </a:r>
          </a:p>
          <a:p>
            <a:r>
              <a:rPr sz="2400" dirty="0"/>
              <a:t>- Can use disk storage if memory is full.</a:t>
            </a:r>
          </a:p>
          <a:p>
            <a:r>
              <a:rPr sz="2400" dirty="0"/>
              <a:t>Resilient Distributed Dataset (RDD):</a:t>
            </a:r>
          </a:p>
          <a:p>
            <a:r>
              <a:rPr sz="2400" dirty="0"/>
              <a:t>- Distributed, fault-tolerant, partitioned, supports many data sources.</a:t>
            </a:r>
          </a:p>
          <a:p>
            <a:r>
              <a:rPr sz="2400" dirty="0"/>
              <a:t>- Immutable; supports transformations (recipes) and actions (execution).</a:t>
            </a:r>
          </a:p>
          <a:p>
            <a:r>
              <a:rPr sz="2400" dirty="0" err="1"/>
              <a:t>DataFrames</a:t>
            </a:r>
            <a:r>
              <a:rPr sz="2400" dirty="0"/>
              <a:t>: Spark 2.0 introduced </a:t>
            </a:r>
            <a:r>
              <a:rPr sz="2400" dirty="0" err="1"/>
              <a:t>DataFrames</a:t>
            </a:r>
            <a:r>
              <a:rPr sz="2400" dirty="0"/>
              <a:t> for more efficient data handling.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CF046-5279-F540-CCBB-22378A7ED545}"/>
              </a:ext>
            </a:extLst>
          </p:cNvPr>
          <p:cNvSpPr>
            <a:spLocks noGrp="1"/>
          </p:cNvSpPr>
          <p:nvPr>
            <p:ph type="title"/>
          </p:nvPr>
        </p:nvSpPr>
        <p:spPr>
          <a:xfrm>
            <a:off x="457200" y="274638"/>
            <a:ext cx="8229600" cy="808574"/>
          </a:xfrm>
        </p:spPr>
        <p:txBody>
          <a:bodyPr>
            <a:normAutofit/>
          </a:bodyPr>
          <a:lstStyle/>
          <a:p>
            <a:r>
              <a:rPr lang="en-US" dirty="0"/>
              <a:t>SETTING UP PYTHON WITH SPARK</a:t>
            </a:r>
          </a:p>
        </p:txBody>
      </p:sp>
      <p:sp>
        <p:nvSpPr>
          <p:cNvPr id="3" name="Content Placeholder 2">
            <a:extLst>
              <a:ext uri="{FF2B5EF4-FFF2-40B4-BE49-F238E27FC236}">
                <a16:creationId xmlns:a16="http://schemas.microsoft.com/office/drawing/2014/main" id="{B43C4921-C7FB-89E5-52AE-3CABB62A72C1}"/>
              </a:ext>
            </a:extLst>
          </p:cNvPr>
          <p:cNvSpPr>
            <a:spLocks noGrp="1"/>
          </p:cNvSpPr>
          <p:nvPr>
            <p:ph idx="1"/>
          </p:nvPr>
        </p:nvSpPr>
        <p:spPr>
          <a:xfrm>
            <a:off x="457200" y="1083212"/>
            <a:ext cx="8229600" cy="5042951"/>
          </a:xfrm>
        </p:spPr>
        <p:txBody>
          <a:bodyPr>
            <a:normAutofit/>
          </a:bodyPr>
          <a:lstStyle/>
          <a:p>
            <a:pPr marL="0" indent="0">
              <a:buNone/>
            </a:pPr>
            <a:r>
              <a:rPr lang="en-US" sz="2000" dirty="0"/>
              <a:t>Realistically Spark wont' be running on a single machine, it will run on a cluster(a group of machines) on a service , like AWS.</a:t>
            </a:r>
          </a:p>
          <a:p>
            <a:r>
              <a:rPr lang="en-US" sz="2000" dirty="0"/>
              <a:t>-Databricks is a company founded by the creator of Spark. It provides clusters that run on top of AWS and has Notebook System already set up.</a:t>
            </a:r>
          </a:p>
          <a:p>
            <a:r>
              <a:rPr lang="en-US" sz="2000" dirty="0"/>
              <a:t>-It has a free community version that supports a 6 GB cluster. </a:t>
            </a:r>
          </a:p>
          <a:p>
            <a:r>
              <a:rPr lang="en-US" sz="2000" dirty="0"/>
              <a:t>-It also has its own storage format known as DBFS.</a:t>
            </a:r>
          </a:p>
          <a:p>
            <a:r>
              <a:rPr lang="en-US" sz="2000" dirty="0"/>
              <a:t> </a:t>
            </a:r>
          </a:p>
          <a:p>
            <a:r>
              <a:rPr lang="en-US" sz="2000" dirty="0"/>
              <a:t> Go to: </a:t>
            </a:r>
            <a:r>
              <a:rPr lang="en-US" sz="2000" dirty="0">
                <a:hlinkClick r:id="rId2"/>
              </a:rPr>
              <a:t>https://databricks.com/try-databricks</a:t>
            </a:r>
            <a:endParaRPr lang="en-US" sz="2000" dirty="0"/>
          </a:p>
          <a:p>
            <a:r>
              <a:rPr lang="en-US" sz="2000" dirty="0"/>
              <a:t> Login with email, you'll get sent a verification code.  29@</a:t>
            </a:r>
          </a:p>
          <a:p>
            <a:r>
              <a:rPr lang="en-US" sz="2000" dirty="0"/>
              <a:t> or use the P. DB_hbl432025</a:t>
            </a:r>
          </a:p>
        </p:txBody>
      </p:sp>
    </p:spTree>
    <p:extLst>
      <p:ext uri="{BB962C8B-B14F-4D97-AF65-F5344CB8AC3E}">
        <p14:creationId xmlns:p14="http://schemas.microsoft.com/office/powerpoint/2010/main" val="3070204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Architecture</a:t>
            </a:r>
            <a:endParaRPr dirty="0"/>
          </a:p>
        </p:txBody>
      </p:sp>
      <p:sp>
        <p:nvSpPr>
          <p:cNvPr id="5" name="TextBox 4">
            <a:extLst>
              <a:ext uri="{FF2B5EF4-FFF2-40B4-BE49-F238E27FC236}">
                <a16:creationId xmlns:a16="http://schemas.microsoft.com/office/drawing/2014/main" id="{47BA625F-695B-0079-0C5A-7929497C0A5C}"/>
              </a:ext>
            </a:extLst>
          </p:cNvPr>
          <p:cNvSpPr txBox="1"/>
          <p:nvPr/>
        </p:nvSpPr>
        <p:spPr>
          <a:xfrm>
            <a:off x="457200" y="6534981"/>
            <a:ext cx="8384345" cy="307777"/>
          </a:xfrm>
          <a:prstGeom prst="rect">
            <a:avLst/>
          </a:prstGeom>
          <a:noFill/>
        </p:spPr>
        <p:txBody>
          <a:bodyPr wrap="square">
            <a:spAutoFit/>
          </a:bodyPr>
          <a:lstStyle/>
          <a:p>
            <a:r>
              <a:rPr lang="en-US" sz="1400" dirty="0"/>
              <a:t> Cluster is a group of computers working together</a:t>
            </a:r>
          </a:p>
        </p:txBody>
      </p:sp>
      <p:pic>
        <p:nvPicPr>
          <p:cNvPr id="6" name="Picture 5">
            <a:extLst>
              <a:ext uri="{FF2B5EF4-FFF2-40B4-BE49-F238E27FC236}">
                <a16:creationId xmlns:a16="http://schemas.microsoft.com/office/drawing/2014/main" id="{FE5F671F-E68F-4F56-5BCF-AA0339195C6C}"/>
              </a:ext>
            </a:extLst>
          </p:cNvPr>
          <p:cNvPicPr>
            <a:picLocks noChangeAspect="1"/>
          </p:cNvPicPr>
          <p:nvPr/>
        </p:nvPicPr>
        <p:blipFill>
          <a:blip r:embed="rId3"/>
          <a:srcRect l="5000" r="13539" b="10895"/>
          <a:stretch>
            <a:fillRect/>
          </a:stretch>
        </p:blipFill>
        <p:spPr>
          <a:xfrm>
            <a:off x="738555" y="1137444"/>
            <a:ext cx="6302326" cy="3791753"/>
          </a:xfrm>
          <a:prstGeom prst="rect">
            <a:avLst/>
          </a:prstGeom>
        </p:spPr>
      </p:pic>
      <p:sp>
        <p:nvSpPr>
          <p:cNvPr id="9" name="Rectangle 8">
            <a:extLst>
              <a:ext uri="{FF2B5EF4-FFF2-40B4-BE49-F238E27FC236}">
                <a16:creationId xmlns:a16="http://schemas.microsoft.com/office/drawing/2014/main" id="{0225C097-12DB-E411-5ADC-281882036A7B}"/>
              </a:ext>
            </a:extLst>
          </p:cNvPr>
          <p:cNvSpPr/>
          <p:nvPr/>
        </p:nvSpPr>
        <p:spPr>
          <a:xfrm>
            <a:off x="3249637" y="2016054"/>
            <a:ext cx="3791244" cy="1750208"/>
          </a:xfrm>
          <a:prstGeom prst="rect">
            <a:avLst/>
          </a:prstGeom>
          <a:noFill/>
          <a:ln w="57150">
            <a:solidFill>
              <a:srgbClr val="FFF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F879673A-832F-9A1B-A4F0-A4B18FD85401}"/>
              </a:ext>
            </a:extLst>
          </p:cNvPr>
          <p:cNvSpPr txBox="1"/>
          <p:nvPr/>
        </p:nvSpPr>
        <p:spPr>
          <a:xfrm>
            <a:off x="1062111" y="1151511"/>
            <a:ext cx="2082018" cy="1477328"/>
          </a:xfrm>
          <a:prstGeom prst="rect">
            <a:avLst/>
          </a:prstGeom>
          <a:noFill/>
        </p:spPr>
        <p:txBody>
          <a:bodyPr wrap="square" rtlCol="0">
            <a:spAutoFit/>
          </a:bodyPr>
          <a:lstStyle/>
          <a:p>
            <a:r>
              <a:rPr lang="en-US" dirty="0">
                <a:solidFill>
                  <a:schemeClr val="bg1"/>
                </a:solidFill>
              </a:rPr>
              <a:t>Spark only includes these in yellow.</a:t>
            </a:r>
          </a:p>
          <a:p>
            <a:r>
              <a:rPr lang="en-US" dirty="0">
                <a:solidFill>
                  <a:schemeClr val="bg1"/>
                </a:solidFill>
              </a:rPr>
              <a:t>The others below are not part of Spark</a:t>
            </a:r>
          </a:p>
        </p:txBody>
      </p:sp>
      <p:cxnSp>
        <p:nvCxnSpPr>
          <p:cNvPr id="12" name="Straight Arrow Connector 11">
            <a:extLst>
              <a:ext uri="{FF2B5EF4-FFF2-40B4-BE49-F238E27FC236}">
                <a16:creationId xmlns:a16="http://schemas.microsoft.com/office/drawing/2014/main" id="{7839CD82-ED5D-6F34-A3E5-1F5FE2FAB03B}"/>
              </a:ext>
            </a:extLst>
          </p:cNvPr>
          <p:cNvCxnSpPr>
            <a:cxnSpLocks/>
            <a:stCxn id="10" idx="2"/>
          </p:cNvCxnSpPr>
          <p:nvPr/>
        </p:nvCxnSpPr>
        <p:spPr>
          <a:xfrm>
            <a:off x="2103120" y="2628839"/>
            <a:ext cx="1041009"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6" name="TextBox 15">
            <a:extLst>
              <a:ext uri="{FF2B5EF4-FFF2-40B4-BE49-F238E27FC236}">
                <a16:creationId xmlns:a16="http://schemas.microsoft.com/office/drawing/2014/main" id="{4EDB1677-D3E3-2025-D6F4-1DB999273419}"/>
              </a:ext>
            </a:extLst>
          </p:cNvPr>
          <p:cNvSpPr txBox="1"/>
          <p:nvPr/>
        </p:nvSpPr>
        <p:spPr>
          <a:xfrm>
            <a:off x="663525" y="5187499"/>
            <a:ext cx="7971693" cy="1200329"/>
          </a:xfrm>
          <a:prstGeom prst="rect">
            <a:avLst/>
          </a:prstGeom>
          <a:noFill/>
        </p:spPr>
        <p:txBody>
          <a:bodyPr wrap="square" rtlCol="0">
            <a:spAutoFit/>
          </a:bodyPr>
          <a:lstStyle/>
          <a:p>
            <a:r>
              <a:rPr lang="en-US" dirty="0"/>
              <a:t>Spark needs all the complete</a:t>
            </a:r>
            <a:r>
              <a:rPr lang="en-US" b="1" dirty="0"/>
              <a:t> </a:t>
            </a:r>
            <a:r>
              <a:rPr lang="en-US" b="1" dirty="0" err="1"/>
              <a:t>plateform</a:t>
            </a:r>
            <a:r>
              <a:rPr lang="en-US" b="1" dirty="0"/>
              <a:t> </a:t>
            </a:r>
            <a:r>
              <a:rPr lang="en-US" dirty="0"/>
              <a:t>(all the modules)</a:t>
            </a:r>
          </a:p>
          <a:p>
            <a:r>
              <a:rPr lang="en-US" b="1" dirty="0"/>
              <a:t>There are two types: </a:t>
            </a:r>
          </a:p>
          <a:p>
            <a:r>
              <a:rPr lang="en-US" dirty="0"/>
              <a:t>Cloud Platform; Databricks</a:t>
            </a:r>
          </a:p>
          <a:p>
            <a:r>
              <a:rPr lang="en-US" dirty="0"/>
              <a:t>On Premise Platform; Cloudera Hadoop</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CDFF8-6B0D-8542-4F21-FFF905D4F6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7536EC-7D9F-1A04-AE66-A3DF49E856AF}"/>
              </a:ext>
            </a:extLst>
          </p:cNvPr>
          <p:cNvSpPr>
            <a:spLocks noGrp="1"/>
          </p:cNvSpPr>
          <p:nvPr>
            <p:ph type="title"/>
          </p:nvPr>
        </p:nvSpPr>
        <p:spPr/>
        <p:txBody>
          <a:bodyPr/>
          <a:lstStyle/>
          <a:p>
            <a:r>
              <a:rPr lang="en-US" dirty="0"/>
              <a:t>Architecture</a:t>
            </a:r>
            <a:endParaRPr dirty="0"/>
          </a:p>
        </p:txBody>
      </p:sp>
      <p:sp>
        <p:nvSpPr>
          <p:cNvPr id="5" name="TextBox 4">
            <a:extLst>
              <a:ext uri="{FF2B5EF4-FFF2-40B4-BE49-F238E27FC236}">
                <a16:creationId xmlns:a16="http://schemas.microsoft.com/office/drawing/2014/main" id="{26F4EE46-E141-96BF-EA7D-B6791C0D5DAA}"/>
              </a:ext>
            </a:extLst>
          </p:cNvPr>
          <p:cNvSpPr txBox="1"/>
          <p:nvPr/>
        </p:nvSpPr>
        <p:spPr>
          <a:xfrm>
            <a:off x="457200" y="6429473"/>
            <a:ext cx="8384345" cy="307777"/>
          </a:xfrm>
          <a:prstGeom prst="rect">
            <a:avLst/>
          </a:prstGeom>
          <a:noFill/>
        </p:spPr>
        <p:txBody>
          <a:bodyPr wrap="square">
            <a:spAutoFit/>
          </a:bodyPr>
          <a:lstStyle/>
          <a:p>
            <a:r>
              <a:rPr lang="en-US" sz="1400" dirty="0"/>
              <a:t> Cluster is a group of computers working together</a:t>
            </a:r>
          </a:p>
        </p:txBody>
      </p:sp>
      <p:pic>
        <p:nvPicPr>
          <p:cNvPr id="6" name="Picture 5">
            <a:extLst>
              <a:ext uri="{FF2B5EF4-FFF2-40B4-BE49-F238E27FC236}">
                <a16:creationId xmlns:a16="http://schemas.microsoft.com/office/drawing/2014/main" id="{E9956A4B-5175-2AE5-CCD9-2D74C8B7DA74}"/>
              </a:ext>
            </a:extLst>
          </p:cNvPr>
          <p:cNvPicPr>
            <a:picLocks noChangeAspect="1"/>
          </p:cNvPicPr>
          <p:nvPr/>
        </p:nvPicPr>
        <p:blipFill>
          <a:blip r:embed="rId3"/>
          <a:srcRect l="5000" r="13539" b="10895"/>
          <a:stretch>
            <a:fillRect/>
          </a:stretch>
        </p:blipFill>
        <p:spPr>
          <a:xfrm>
            <a:off x="738554" y="1137444"/>
            <a:ext cx="7617655" cy="4583112"/>
          </a:xfrm>
          <a:prstGeom prst="rect">
            <a:avLst/>
          </a:prstGeom>
        </p:spPr>
      </p:pic>
      <p:sp>
        <p:nvSpPr>
          <p:cNvPr id="9" name="Rectangle 8">
            <a:extLst>
              <a:ext uri="{FF2B5EF4-FFF2-40B4-BE49-F238E27FC236}">
                <a16:creationId xmlns:a16="http://schemas.microsoft.com/office/drawing/2014/main" id="{7DD0B698-EDB7-260C-7F4D-C4937F14EFF5}"/>
              </a:ext>
            </a:extLst>
          </p:cNvPr>
          <p:cNvSpPr/>
          <p:nvPr/>
        </p:nvSpPr>
        <p:spPr>
          <a:xfrm>
            <a:off x="3474720" y="2126555"/>
            <a:ext cx="5162843" cy="2389173"/>
          </a:xfrm>
          <a:prstGeom prst="rect">
            <a:avLst/>
          </a:prstGeom>
          <a:noFill/>
          <a:ln w="57150">
            <a:solidFill>
              <a:srgbClr val="FFF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0DAD5D10-3B8A-7F6F-6DE4-95B0802B74AD}"/>
              </a:ext>
            </a:extLst>
          </p:cNvPr>
          <p:cNvSpPr txBox="1"/>
          <p:nvPr/>
        </p:nvSpPr>
        <p:spPr>
          <a:xfrm>
            <a:off x="1062111" y="1151511"/>
            <a:ext cx="2082018" cy="1477328"/>
          </a:xfrm>
          <a:prstGeom prst="rect">
            <a:avLst/>
          </a:prstGeom>
          <a:noFill/>
        </p:spPr>
        <p:txBody>
          <a:bodyPr wrap="square" rtlCol="0">
            <a:spAutoFit/>
          </a:bodyPr>
          <a:lstStyle/>
          <a:p>
            <a:r>
              <a:rPr lang="en-US" dirty="0">
                <a:solidFill>
                  <a:schemeClr val="bg1"/>
                </a:solidFill>
              </a:rPr>
              <a:t>Spark only includes these in yellow.</a:t>
            </a:r>
          </a:p>
          <a:p>
            <a:r>
              <a:rPr lang="en-US" dirty="0">
                <a:solidFill>
                  <a:schemeClr val="bg1"/>
                </a:solidFill>
              </a:rPr>
              <a:t>The others below are not part of Spark</a:t>
            </a:r>
          </a:p>
        </p:txBody>
      </p:sp>
      <p:cxnSp>
        <p:nvCxnSpPr>
          <p:cNvPr id="12" name="Straight Arrow Connector 11">
            <a:extLst>
              <a:ext uri="{FF2B5EF4-FFF2-40B4-BE49-F238E27FC236}">
                <a16:creationId xmlns:a16="http://schemas.microsoft.com/office/drawing/2014/main" id="{54FF7C9D-8C87-1C56-E410-3AD656FD83D1}"/>
              </a:ext>
            </a:extLst>
          </p:cNvPr>
          <p:cNvCxnSpPr>
            <a:cxnSpLocks/>
            <a:stCxn id="10" idx="2"/>
          </p:cNvCxnSpPr>
          <p:nvPr/>
        </p:nvCxnSpPr>
        <p:spPr>
          <a:xfrm>
            <a:off x="2103120" y="2628839"/>
            <a:ext cx="1041009"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490070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3A3BA-76E8-5842-1C58-6F2B71F509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D24F8E-E072-2961-A969-E294A71C503C}"/>
              </a:ext>
            </a:extLst>
          </p:cNvPr>
          <p:cNvSpPr>
            <a:spLocks noGrp="1"/>
          </p:cNvSpPr>
          <p:nvPr>
            <p:ph type="title"/>
          </p:nvPr>
        </p:nvSpPr>
        <p:spPr/>
        <p:txBody>
          <a:bodyPr>
            <a:normAutofit fontScale="90000"/>
          </a:bodyPr>
          <a:lstStyle/>
          <a:p>
            <a:r>
              <a:rPr lang="en-US" dirty="0"/>
              <a:t>Spark needs a development environment</a:t>
            </a:r>
            <a:endParaRPr dirty="0"/>
          </a:p>
        </p:txBody>
      </p:sp>
      <p:sp>
        <p:nvSpPr>
          <p:cNvPr id="5" name="TextBox 4">
            <a:extLst>
              <a:ext uri="{FF2B5EF4-FFF2-40B4-BE49-F238E27FC236}">
                <a16:creationId xmlns:a16="http://schemas.microsoft.com/office/drawing/2014/main" id="{B8FC5756-2622-1FC3-A2F2-325F76C37950}"/>
              </a:ext>
            </a:extLst>
          </p:cNvPr>
          <p:cNvSpPr txBox="1"/>
          <p:nvPr/>
        </p:nvSpPr>
        <p:spPr>
          <a:xfrm>
            <a:off x="457200" y="2140622"/>
            <a:ext cx="8384345" cy="707886"/>
          </a:xfrm>
          <a:prstGeom prst="rect">
            <a:avLst/>
          </a:prstGeom>
          <a:noFill/>
        </p:spPr>
        <p:txBody>
          <a:bodyPr wrap="square">
            <a:spAutoFit/>
          </a:bodyPr>
          <a:lstStyle/>
          <a:p>
            <a:r>
              <a:rPr lang="en-US" sz="2000" dirty="0"/>
              <a:t>Notebooks –Cloud.</a:t>
            </a:r>
          </a:p>
          <a:p>
            <a:r>
              <a:rPr lang="en-US" sz="2000" dirty="0"/>
              <a:t>IDE-Local Machine. Any IDE to program</a:t>
            </a:r>
          </a:p>
        </p:txBody>
      </p:sp>
    </p:spTree>
    <p:extLst>
      <p:ext uri="{BB962C8B-B14F-4D97-AF65-F5344CB8AC3E}">
        <p14:creationId xmlns:p14="http://schemas.microsoft.com/office/powerpoint/2010/main" val="13923361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C4821C8-5CED-F062-48B4-3C374672D3A3}"/>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defTabSz="914400">
              <a:lnSpc>
                <a:spcPct val="90000"/>
              </a:lnSpc>
            </a:pPr>
            <a:r>
              <a:rPr lang="en-US" sz="2800" kern="1200" dirty="0">
                <a:solidFill>
                  <a:schemeClr val="bg1"/>
                </a:solidFill>
                <a:latin typeface="+mj-lt"/>
                <a:ea typeface="+mj-ea"/>
                <a:cs typeface="+mj-cs"/>
              </a:rPr>
              <a:t>What is </a:t>
            </a:r>
            <a:r>
              <a:rPr lang="en-US" sz="2800" kern="1200" dirty="0" err="1">
                <a:solidFill>
                  <a:schemeClr val="bg1"/>
                </a:solidFill>
                <a:latin typeface="+mj-lt"/>
                <a:ea typeface="+mj-ea"/>
                <a:cs typeface="+mj-cs"/>
              </a:rPr>
              <a:t>DatBricks</a:t>
            </a:r>
            <a:r>
              <a:rPr lang="en-US" sz="2800" kern="1200" dirty="0">
                <a:solidFill>
                  <a:schemeClr val="bg1"/>
                </a:solidFill>
                <a:latin typeface="+mj-lt"/>
                <a:ea typeface="+mj-ea"/>
                <a:cs typeface="+mj-cs"/>
              </a:rPr>
              <a:t>?</a:t>
            </a:r>
          </a:p>
        </p:txBody>
      </p:sp>
      <p:pic>
        <p:nvPicPr>
          <p:cNvPr id="5" name="Picture 4">
            <a:extLst>
              <a:ext uri="{FF2B5EF4-FFF2-40B4-BE49-F238E27FC236}">
                <a16:creationId xmlns:a16="http://schemas.microsoft.com/office/drawing/2014/main" id="{B657D723-F422-B34D-96BA-27008F7209B6}"/>
              </a:ext>
            </a:extLst>
          </p:cNvPr>
          <p:cNvPicPr>
            <a:picLocks noChangeAspect="1"/>
          </p:cNvPicPr>
          <p:nvPr/>
        </p:nvPicPr>
        <p:blipFill>
          <a:blip r:embed="rId2"/>
          <a:stretch>
            <a:fillRect/>
          </a:stretch>
        </p:blipFill>
        <p:spPr>
          <a:xfrm>
            <a:off x="666044" y="1675227"/>
            <a:ext cx="7811910" cy="4394199"/>
          </a:xfrm>
          <a:prstGeom prst="rect">
            <a:avLst/>
          </a:prstGeom>
        </p:spPr>
      </p:pic>
    </p:spTree>
    <p:extLst>
      <p:ext uri="{BB962C8B-B14F-4D97-AF65-F5344CB8AC3E}">
        <p14:creationId xmlns:p14="http://schemas.microsoft.com/office/powerpoint/2010/main" val="1474514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5DDA2-7F10-B3E6-BB37-F19D5C3B0C50}"/>
              </a:ext>
            </a:extLst>
          </p:cNvPr>
          <p:cNvSpPr>
            <a:spLocks noGrp="1"/>
          </p:cNvSpPr>
          <p:nvPr>
            <p:ph type="title"/>
          </p:nvPr>
        </p:nvSpPr>
        <p:spPr>
          <a:xfrm>
            <a:off x="480060" y="5576887"/>
            <a:ext cx="8183880" cy="640081"/>
          </a:xfrm>
        </p:spPr>
        <p:txBody>
          <a:bodyPr vert="horz" lIns="91440" tIns="45720" rIns="91440" bIns="45720" rtlCol="0" anchor="ctr">
            <a:normAutofit/>
          </a:bodyPr>
          <a:lstStyle/>
          <a:p>
            <a:pPr defTabSz="914400">
              <a:lnSpc>
                <a:spcPct val="90000"/>
              </a:lnSpc>
            </a:pPr>
            <a:endParaRPr lang="en-US" sz="2800"/>
          </a:p>
        </p:txBody>
      </p:sp>
      <p:pic>
        <p:nvPicPr>
          <p:cNvPr id="5" name="Picture 4">
            <a:extLst>
              <a:ext uri="{FF2B5EF4-FFF2-40B4-BE49-F238E27FC236}">
                <a16:creationId xmlns:a16="http://schemas.microsoft.com/office/drawing/2014/main" id="{968F6527-8CCA-4E2F-E647-4376BA9E684C}"/>
              </a:ext>
            </a:extLst>
          </p:cNvPr>
          <p:cNvPicPr>
            <a:picLocks noChangeAspect="1"/>
          </p:cNvPicPr>
          <p:nvPr/>
        </p:nvPicPr>
        <p:blipFill>
          <a:blip r:embed="rId2"/>
          <a:srcRect l="4825" r="1" b="1"/>
          <a:stretch>
            <a:fillRect/>
          </a:stretch>
        </p:blipFill>
        <p:spPr>
          <a:xfrm>
            <a:off x="480060" y="640080"/>
            <a:ext cx="8183880" cy="4836795"/>
          </a:xfrm>
          <a:prstGeom prst="rect">
            <a:avLst/>
          </a:prstGeom>
          <a:ln w="19050">
            <a:solidFill>
              <a:schemeClr val="tx1"/>
            </a:solidFill>
            <a:miter lim="800000"/>
          </a:ln>
        </p:spPr>
      </p:pic>
      <p:sp>
        <p:nvSpPr>
          <p:cNvPr id="6" name="Rectangle 5">
            <a:extLst>
              <a:ext uri="{FF2B5EF4-FFF2-40B4-BE49-F238E27FC236}">
                <a16:creationId xmlns:a16="http://schemas.microsoft.com/office/drawing/2014/main" id="{796F9CA1-FF71-6497-C4EA-2A9B5E62DA11}"/>
              </a:ext>
            </a:extLst>
          </p:cNvPr>
          <p:cNvSpPr/>
          <p:nvPr/>
        </p:nvSpPr>
        <p:spPr>
          <a:xfrm>
            <a:off x="801858" y="1850469"/>
            <a:ext cx="1913207" cy="1258492"/>
          </a:xfrm>
          <a:prstGeom prst="rect">
            <a:avLst/>
          </a:prstGeom>
          <a:noFill/>
          <a:ln w="57150">
            <a:solidFill>
              <a:srgbClr val="FFF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7A3AD3D2-2146-EA51-D6CA-CA9C367FB71F}"/>
              </a:ext>
            </a:extLst>
          </p:cNvPr>
          <p:cNvSpPr txBox="1"/>
          <p:nvPr/>
        </p:nvSpPr>
        <p:spPr>
          <a:xfrm>
            <a:off x="1062111" y="1381125"/>
            <a:ext cx="3847514" cy="369332"/>
          </a:xfrm>
          <a:prstGeom prst="rect">
            <a:avLst/>
          </a:prstGeom>
          <a:noFill/>
        </p:spPr>
        <p:txBody>
          <a:bodyPr wrap="square" rtlCol="0">
            <a:spAutoFit/>
          </a:bodyPr>
          <a:lstStyle/>
          <a:p>
            <a:r>
              <a:rPr lang="en-US" dirty="0"/>
              <a:t>Spark main capability</a:t>
            </a:r>
          </a:p>
        </p:txBody>
      </p:sp>
    </p:spTree>
    <p:extLst>
      <p:ext uri="{BB962C8B-B14F-4D97-AF65-F5344CB8AC3E}">
        <p14:creationId xmlns:p14="http://schemas.microsoft.com/office/powerpoint/2010/main" val="2406530613"/>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E5CDA-A6E2-EF1E-E64C-BB5A39BF05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EC3A94-FC00-4CFD-BB55-44FD9A8390BF}"/>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defTabSz="914400">
              <a:lnSpc>
                <a:spcPct val="90000"/>
              </a:lnSpc>
            </a:pPr>
            <a:r>
              <a:rPr lang="en-US" sz="2800" kern="1200">
                <a:solidFill>
                  <a:schemeClr val="bg1"/>
                </a:solidFill>
                <a:latin typeface="+mj-lt"/>
                <a:ea typeface="+mj-ea"/>
                <a:cs typeface="+mj-cs"/>
              </a:rPr>
              <a:t>What is DatBricks?</a:t>
            </a:r>
          </a:p>
        </p:txBody>
      </p:sp>
      <p:sp>
        <p:nvSpPr>
          <p:cNvPr id="3" name="Title 1">
            <a:extLst>
              <a:ext uri="{FF2B5EF4-FFF2-40B4-BE49-F238E27FC236}">
                <a16:creationId xmlns:a16="http://schemas.microsoft.com/office/drawing/2014/main" id="{B388F801-413B-2F1A-F252-DFC20E8645A8}"/>
              </a:ext>
            </a:extLst>
          </p:cNvPr>
          <p:cNvSpPr txBox="1">
            <a:spLocks/>
          </p:cNvSpPr>
          <p:nvPr/>
        </p:nvSpPr>
        <p:spPr>
          <a:xfrm>
            <a:off x="569799" y="795867"/>
            <a:ext cx="8408193" cy="744836"/>
          </a:xfrm>
          <a:prstGeom prst="rect">
            <a:avLst/>
          </a:prstGeom>
          <a:solidFill>
            <a:schemeClr val="tx1"/>
          </a:solid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defTabSz="914400">
              <a:lnSpc>
                <a:spcPct val="90000"/>
              </a:lnSpc>
            </a:pPr>
            <a:r>
              <a:rPr lang="en-US" sz="2800" dirty="0">
                <a:solidFill>
                  <a:schemeClr val="bg1"/>
                </a:solidFill>
                <a:highlight>
                  <a:srgbClr val="000000"/>
                </a:highlight>
              </a:rPr>
              <a:t>Create Catalog, Database, Volume</a:t>
            </a:r>
          </a:p>
        </p:txBody>
      </p:sp>
      <p:sp>
        <p:nvSpPr>
          <p:cNvPr id="4" name="TextBox 3">
            <a:extLst>
              <a:ext uri="{FF2B5EF4-FFF2-40B4-BE49-F238E27FC236}">
                <a16:creationId xmlns:a16="http://schemas.microsoft.com/office/drawing/2014/main" id="{02811E4C-D154-8178-ED69-659120481E6C}"/>
              </a:ext>
            </a:extLst>
          </p:cNvPr>
          <p:cNvSpPr txBox="1"/>
          <p:nvPr/>
        </p:nvSpPr>
        <p:spPr>
          <a:xfrm>
            <a:off x="457200" y="2140622"/>
            <a:ext cx="8384345" cy="4093428"/>
          </a:xfrm>
          <a:prstGeom prst="rect">
            <a:avLst/>
          </a:prstGeom>
          <a:noFill/>
        </p:spPr>
        <p:txBody>
          <a:bodyPr wrap="square">
            <a:spAutoFit/>
          </a:bodyPr>
          <a:lstStyle/>
          <a:p>
            <a:r>
              <a:rPr lang="en-US" sz="2000" b="1" dirty="0"/>
              <a:t>Catalog</a:t>
            </a:r>
          </a:p>
          <a:p>
            <a:r>
              <a:rPr lang="en-US" sz="2000" dirty="0"/>
              <a:t>A catalog is the primary unit of data isolation and organization. It contains </a:t>
            </a:r>
            <a:r>
              <a:rPr lang="en-US" sz="2000" b="1" dirty="0"/>
              <a:t>schemas and volumes</a:t>
            </a:r>
            <a:r>
              <a:rPr lang="en-US" sz="2000" dirty="0"/>
              <a:t>. </a:t>
            </a:r>
          </a:p>
          <a:p>
            <a:endParaRPr lang="en-US" sz="2000" dirty="0"/>
          </a:p>
          <a:p>
            <a:r>
              <a:rPr lang="en-US" sz="2000" b="1" dirty="0"/>
              <a:t>Database (Schema) </a:t>
            </a:r>
          </a:p>
          <a:p>
            <a:r>
              <a:rPr lang="en-US" sz="2000" dirty="0"/>
              <a:t>A schema (also called a database in Databricks SQL terminology) represents a </a:t>
            </a:r>
            <a:r>
              <a:rPr lang="en-US" sz="2000" b="1" dirty="0"/>
              <a:t>more granular grouping within a catalog</a:t>
            </a:r>
          </a:p>
          <a:p>
            <a:endParaRPr lang="en-US" sz="2000" dirty="0"/>
          </a:p>
          <a:p>
            <a:r>
              <a:rPr lang="en-US" sz="2000" b="1" dirty="0"/>
              <a:t>Volume</a:t>
            </a:r>
          </a:p>
          <a:p>
            <a:r>
              <a:rPr lang="en-US" sz="2000" dirty="0"/>
              <a:t>A Unity Catalog object used to access, govern, and organize files in cloud object storage, including non-tabular data. Volumes are created within a schema. </a:t>
            </a:r>
            <a:r>
              <a:rPr lang="en-US" sz="2000" b="1" dirty="0"/>
              <a:t> </a:t>
            </a:r>
            <a:r>
              <a:rPr lang="en-US" sz="2000" dirty="0"/>
              <a:t>A volume is a </a:t>
            </a:r>
            <a:r>
              <a:rPr lang="en-US" sz="2000" b="1" dirty="0"/>
              <a:t>Directory</a:t>
            </a:r>
            <a:r>
              <a:rPr lang="en-US" sz="2000" dirty="0"/>
              <a:t> </a:t>
            </a:r>
            <a:r>
              <a:rPr lang="en-US" sz="2000" b="1" dirty="0"/>
              <a:t>where files are stored</a:t>
            </a:r>
          </a:p>
          <a:p>
            <a:endParaRPr lang="en-US" sz="2000" dirty="0"/>
          </a:p>
        </p:txBody>
      </p:sp>
      <p:sp>
        <p:nvSpPr>
          <p:cNvPr id="5" name="TextBox 4">
            <a:extLst>
              <a:ext uri="{FF2B5EF4-FFF2-40B4-BE49-F238E27FC236}">
                <a16:creationId xmlns:a16="http://schemas.microsoft.com/office/drawing/2014/main" id="{446BFBA8-8848-8DC7-0F99-C56FE8294BC2}"/>
              </a:ext>
            </a:extLst>
          </p:cNvPr>
          <p:cNvSpPr txBox="1"/>
          <p:nvPr/>
        </p:nvSpPr>
        <p:spPr>
          <a:xfrm>
            <a:off x="457200" y="1540703"/>
            <a:ext cx="8384345" cy="584775"/>
          </a:xfrm>
          <a:prstGeom prst="rect">
            <a:avLst/>
          </a:prstGeom>
          <a:noFill/>
        </p:spPr>
        <p:txBody>
          <a:bodyPr wrap="square">
            <a:spAutoFit/>
          </a:bodyPr>
          <a:lstStyle/>
          <a:p>
            <a:r>
              <a:rPr lang="en-US" sz="1600" b="1" dirty="0"/>
              <a:t>Section 2: Setup your hands on environment</a:t>
            </a:r>
          </a:p>
          <a:p>
            <a:r>
              <a:rPr lang="en-US" sz="1600" dirty="0"/>
              <a:t>A catalog is the primary unit of data isolation and organization. It contains </a:t>
            </a:r>
            <a:r>
              <a:rPr lang="en-US" sz="1600" b="1" dirty="0"/>
              <a:t>schemas and volumes</a:t>
            </a:r>
            <a:r>
              <a:rPr lang="en-US" sz="1600" dirty="0"/>
              <a:t>. </a:t>
            </a:r>
          </a:p>
        </p:txBody>
      </p:sp>
    </p:spTree>
    <p:extLst>
      <p:ext uri="{BB962C8B-B14F-4D97-AF65-F5344CB8AC3E}">
        <p14:creationId xmlns:p14="http://schemas.microsoft.com/office/powerpoint/2010/main" val="8550375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0B4C1-78F2-C19D-0259-9F0205AE55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7D6867-8E76-BCD9-8D99-9B5BCAF9EAE9}"/>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defTabSz="914400">
              <a:lnSpc>
                <a:spcPct val="90000"/>
              </a:lnSpc>
            </a:pPr>
            <a:r>
              <a:rPr lang="en-US" sz="2800" kern="1200">
                <a:solidFill>
                  <a:schemeClr val="bg1"/>
                </a:solidFill>
                <a:latin typeface="+mj-lt"/>
                <a:ea typeface="+mj-ea"/>
                <a:cs typeface="+mj-cs"/>
              </a:rPr>
              <a:t>What is DatBricks?</a:t>
            </a:r>
          </a:p>
        </p:txBody>
      </p:sp>
      <p:sp>
        <p:nvSpPr>
          <p:cNvPr id="3" name="Title 1">
            <a:extLst>
              <a:ext uri="{FF2B5EF4-FFF2-40B4-BE49-F238E27FC236}">
                <a16:creationId xmlns:a16="http://schemas.microsoft.com/office/drawing/2014/main" id="{7E989022-2776-C8B7-4E99-B1BF54C54D68}"/>
              </a:ext>
            </a:extLst>
          </p:cNvPr>
          <p:cNvSpPr txBox="1">
            <a:spLocks/>
          </p:cNvSpPr>
          <p:nvPr/>
        </p:nvSpPr>
        <p:spPr>
          <a:xfrm>
            <a:off x="569799" y="795867"/>
            <a:ext cx="8408193" cy="744836"/>
          </a:xfrm>
          <a:prstGeom prst="rect">
            <a:avLst/>
          </a:prstGeom>
          <a:solidFill>
            <a:schemeClr val="tx1"/>
          </a:solid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defTabSz="914400">
              <a:lnSpc>
                <a:spcPct val="90000"/>
              </a:lnSpc>
            </a:pPr>
            <a:r>
              <a:rPr lang="en-US" sz="2800" dirty="0">
                <a:solidFill>
                  <a:schemeClr val="bg1"/>
                </a:solidFill>
                <a:highlight>
                  <a:srgbClr val="000000"/>
                </a:highlight>
              </a:rPr>
              <a:t>Import Data ingestion utilities</a:t>
            </a:r>
          </a:p>
        </p:txBody>
      </p:sp>
      <p:sp>
        <p:nvSpPr>
          <p:cNvPr id="4" name="TextBox 3">
            <a:extLst>
              <a:ext uri="{FF2B5EF4-FFF2-40B4-BE49-F238E27FC236}">
                <a16:creationId xmlns:a16="http://schemas.microsoft.com/office/drawing/2014/main" id="{D58D30C2-E897-D7D5-F8ED-9901A9F61A4B}"/>
              </a:ext>
            </a:extLst>
          </p:cNvPr>
          <p:cNvSpPr txBox="1"/>
          <p:nvPr/>
        </p:nvSpPr>
        <p:spPr>
          <a:xfrm>
            <a:off x="457200" y="2140622"/>
            <a:ext cx="8384345" cy="1323439"/>
          </a:xfrm>
          <a:prstGeom prst="rect">
            <a:avLst/>
          </a:prstGeom>
          <a:noFill/>
        </p:spPr>
        <p:txBody>
          <a:bodyPr wrap="square">
            <a:spAutoFit/>
          </a:bodyPr>
          <a:lstStyle/>
          <a:p>
            <a:r>
              <a:rPr lang="en-US" sz="2000" b="1" dirty="0"/>
              <a:t>Open the data-ingestion file</a:t>
            </a:r>
          </a:p>
          <a:p>
            <a:r>
              <a:rPr lang="en-US" sz="2000" b="1" dirty="0"/>
              <a:t>Workspace/</a:t>
            </a:r>
            <a:r>
              <a:rPr lang="en-US" sz="2000" dirty="0"/>
              <a:t> utils/ data-</a:t>
            </a:r>
            <a:r>
              <a:rPr lang="en-US" sz="2000" dirty="0" err="1"/>
              <a:t>ngestion</a:t>
            </a:r>
            <a:r>
              <a:rPr lang="en-US" sz="2000" dirty="0"/>
              <a:t> </a:t>
            </a:r>
          </a:p>
          <a:p>
            <a:endParaRPr lang="en-US" sz="2000" dirty="0"/>
          </a:p>
          <a:p>
            <a:endParaRPr lang="en-US" sz="2000" dirty="0"/>
          </a:p>
        </p:txBody>
      </p:sp>
      <p:sp>
        <p:nvSpPr>
          <p:cNvPr id="5" name="Title 1">
            <a:extLst>
              <a:ext uri="{FF2B5EF4-FFF2-40B4-BE49-F238E27FC236}">
                <a16:creationId xmlns:a16="http://schemas.microsoft.com/office/drawing/2014/main" id="{A74055C2-7B31-CB23-80E3-C979FA6265B6}"/>
              </a:ext>
            </a:extLst>
          </p:cNvPr>
          <p:cNvSpPr txBox="1">
            <a:spLocks/>
          </p:cNvSpPr>
          <p:nvPr/>
        </p:nvSpPr>
        <p:spPr>
          <a:xfrm>
            <a:off x="417399" y="3241539"/>
            <a:ext cx="8408193" cy="744836"/>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defTabSz="914400">
              <a:lnSpc>
                <a:spcPct val="90000"/>
              </a:lnSpc>
            </a:pPr>
            <a:r>
              <a:rPr lang="en-US" sz="2800">
                <a:solidFill>
                  <a:schemeClr val="bg1"/>
                </a:solidFill>
              </a:rPr>
              <a:t>What is DatBricks?</a:t>
            </a:r>
          </a:p>
        </p:txBody>
      </p:sp>
      <p:sp>
        <p:nvSpPr>
          <p:cNvPr id="6" name="Title 1">
            <a:extLst>
              <a:ext uri="{FF2B5EF4-FFF2-40B4-BE49-F238E27FC236}">
                <a16:creationId xmlns:a16="http://schemas.microsoft.com/office/drawing/2014/main" id="{5FA11398-CD4E-330E-7389-95C85835686F}"/>
              </a:ext>
            </a:extLst>
          </p:cNvPr>
          <p:cNvSpPr txBox="1">
            <a:spLocks/>
          </p:cNvSpPr>
          <p:nvPr/>
        </p:nvSpPr>
        <p:spPr>
          <a:xfrm>
            <a:off x="569799" y="3393939"/>
            <a:ext cx="8408193" cy="744836"/>
          </a:xfrm>
          <a:prstGeom prst="rect">
            <a:avLst/>
          </a:prstGeom>
          <a:solidFill>
            <a:schemeClr val="tx1"/>
          </a:solid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defTabSz="914400">
              <a:lnSpc>
                <a:spcPct val="90000"/>
              </a:lnSpc>
            </a:pPr>
            <a:r>
              <a:rPr lang="en-US" sz="2800" dirty="0">
                <a:solidFill>
                  <a:schemeClr val="bg1"/>
                </a:solidFill>
                <a:highlight>
                  <a:srgbClr val="000000"/>
                </a:highlight>
              </a:rPr>
              <a:t>Ingest Datasets</a:t>
            </a:r>
          </a:p>
        </p:txBody>
      </p:sp>
      <p:sp>
        <p:nvSpPr>
          <p:cNvPr id="7" name="TextBox 6">
            <a:extLst>
              <a:ext uri="{FF2B5EF4-FFF2-40B4-BE49-F238E27FC236}">
                <a16:creationId xmlns:a16="http://schemas.microsoft.com/office/drawing/2014/main" id="{376DFB89-0E91-52FE-3148-61304648DF1D}"/>
              </a:ext>
            </a:extLst>
          </p:cNvPr>
          <p:cNvSpPr txBox="1"/>
          <p:nvPr/>
        </p:nvSpPr>
        <p:spPr>
          <a:xfrm>
            <a:off x="457200" y="4738694"/>
            <a:ext cx="8384345" cy="1015663"/>
          </a:xfrm>
          <a:prstGeom prst="rect">
            <a:avLst/>
          </a:prstGeom>
          <a:noFill/>
        </p:spPr>
        <p:txBody>
          <a:bodyPr wrap="square">
            <a:spAutoFit/>
          </a:bodyPr>
          <a:lstStyle/>
          <a:p>
            <a:r>
              <a:rPr lang="en-US" sz="2000" b="1" dirty="0"/>
              <a:t>See the code in the notebook</a:t>
            </a:r>
            <a:endParaRPr lang="en-US" sz="2000" dirty="0"/>
          </a:p>
          <a:p>
            <a:endParaRPr lang="en-US" sz="2000" dirty="0"/>
          </a:p>
          <a:p>
            <a:endParaRPr lang="en-US" sz="2000" dirty="0"/>
          </a:p>
        </p:txBody>
      </p:sp>
    </p:spTree>
    <p:extLst>
      <p:ext uri="{BB962C8B-B14F-4D97-AF65-F5344CB8AC3E}">
        <p14:creationId xmlns:p14="http://schemas.microsoft.com/office/powerpoint/2010/main" val="20383420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B7D26-15A3-1CF6-3059-EF46C45E72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0BD6D3-9B04-7DDF-FFB7-083F60333431}"/>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defTabSz="914400">
              <a:lnSpc>
                <a:spcPct val="90000"/>
              </a:lnSpc>
            </a:pPr>
            <a:r>
              <a:rPr lang="en-US" sz="2800" kern="1200">
                <a:solidFill>
                  <a:schemeClr val="bg1"/>
                </a:solidFill>
                <a:latin typeface="+mj-lt"/>
                <a:ea typeface="+mj-ea"/>
                <a:cs typeface="+mj-cs"/>
              </a:rPr>
              <a:t>What is DatBricks?</a:t>
            </a:r>
          </a:p>
        </p:txBody>
      </p:sp>
      <p:sp>
        <p:nvSpPr>
          <p:cNvPr id="3" name="Title 1">
            <a:extLst>
              <a:ext uri="{FF2B5EF4-FFF2-40B4-BE49-F238E27FC236}">
                <a16:creationId xmlns:a16="http://schemas.microsoft.com/office/drawing/2014/main" id="{DC25D469-BDB6-5DC1-D7DB-E027C6CD1AA3}"/>
              </a:ext>
            </a:extLst>
          </p:cNvPr>
          <p:cNvSpPr txBox="1">
            <a:spLocks/>
          </p:cNvSpPr>
          <p:nvPr/>
        </p:nvSpPr>
        <p:spPr>
          <a:xfrm>
            <a:off x="569799" y="795867"/>
            <a:ext cx="8408193" cy="744836"/>
          </a:xfrm>
          <a:prstGeom prst="rect">
            <a:avLst/>
          </a:prstGeom>
          <a:solidFill>
            <a:schemeClr val="tx1"/>
          </a:solid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defTabSz="914400">
              <a:lnSpc>
                <a:spcPct val="90000"/>
              </a:lnSpc>
            </a:pPr>
            <a:r>
              <a:rPr lang="en-US" sz="2800" dirty="0">
                <a:solidFill>
                  <a:schemeClr val="bg1"/>
                </a:solidFill>
                <a:highlight>
                  <a:srgbClr val="000000"/>
                </a:highlight>
              </a:rPr>
              <a:t>Create a table</a:t>
            </a:r>
          </a:p>
        </p:txBody>
      </p:sp>
      <p:sp>
        <p:nvSpPr>
          <p:cNvPr id="4" name="TextBox 3">
            <a:extLst>
              <a:ext uri="{FF2B5EF4-FFF2-40B4-BE49-F238E27FC236}">
                <a16:creationId xmlns:a16="http://schemas.microsoft.com/office/drawing/2014/main" id="{51F61079-6434-5A8C-0C6D-40E83AB431AB}"/>
              </a:ext>
            </a:extLst>
          </p:cNvPr>
          <p:cNvSpPr txBox="1"/>
          <p:nvPr/>
        </p:nvSpPr>
        <p:spPr>
          <a:xfrm>
            <a:off x="457200" y="2140622"/>
            <a:ext cx="8384345" cy="707886"/>
          </a:xfrm>
          <a:prstGeom prst="rect">
            <a:avLst/>
          </a:prstGeom>
          <a:noFill/>
        </p:spPr>
        <p:txBody>
          <a:bodyPr wrap="square">
            <a:spAutoFit/>
          </a:bodyPr>
          <a:lstStyle/>
          <a:p>
            <a:r>
              <a:rPr lang="en-US" sz="2000" b="1" dirty="0"/>
              <a:t>See the code in the notebook</a:t>
            </a:r>
            <a:endParaRPr lang="en-US" sz="2000" dirty="0"/>
          </a:p>
          <a:p>
            <a:endParaRPr lang="en-US" sz="2000" dirty="0"/>
          </a:p>
        </p:txBody>
      </p:sp>
      <p:sp>
        <p:nvSpPr>
          <p:cNvPr id="5" name="Title 1">
            <a:extLst>
              <a:ext uri="{FF2B5EF4-FFF2-40B4-BE49-F238E27FC236}">
                <a16:creationId xmlns:a16="http://schemas.microsoft.com/office/drawing/2014/main" id="{0CA09FE0-133D-7296-1F1C-7D3AA89F33C1}"/>
              </a:ext>
            </a:extLst>
          </p:cNvPr>
          <p:cNvSpPr txBox="1">
            <a:spLocks/>
          </p:cNvSpPr>
          <p:nvPr/>
        </p:nvSpPr>
        <p:spPr>
          <a:xfrm>
            <a:off x="417399" y="3241539"/>
            <a:ext cx="8408193" cy="744836"/>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defTabSz="914400">
              <a:lnSpc>
                <a:spcPct val="90000"/>
              </a:lnSpc>
            </a:pPr>
            <a:r>
              <a:rPr lang="en-US" sz="2800">
                <a:solidFill>
                  <a:schemeClr val="bg1"/>
                </a:solidFill>
              </a:rPr>
              <a:t>What is DatBricks?</a:t>
            </a:r>
          </a:p>
        </p:txBody>
      </p:sp>
      <p:sp>
        <p:nvSpPr>
          <p:cNvPr id="6" name="Title 1">
            <a:extLst>
              <a:ext uri="{FF2B5EF4-FFF2-40B4-BE49-F238E27FC236}">
                <a16:creationId xmlns:a16="http://schemas.microsoft.com/office/drawing/2014/main" id="{51934673-7174-CD2C-130B-FF5437097044}"/>
              </a:ext>
            </a:extLst>
          </p:cNvPr>
          <p:cNvSpPr txBox="1">
            <a:spLocks/>
          </p:cNvSpPr>
          <p:nvPr/>
        </p:nvSpPr>
        <p:spPr>
          <a:xfrm>
            <a:off x="569799" y="3393939"/>
            <a:ext cx="8408193" cy="744836"/>
          </a:xfrm>
          <a:prstGeom prst="rect">
            <a:avLst/>
          </a:prstGeom>
          <a:solidFill>
            <a:schemeClr val="tx1"/>
          </a:solid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defTabSz="914400">
              <a:lnSpc>
                <a:spcPct val="90000"/>
              </a:lnSpc>
            </a:pPr>
            <a:r>
              <a:rPr lang="en-US" sz="2800" dirty="0">
                <a:solidFill>
                  <a:schemeClr val="bg1"/>
                </a:solidFill>
                <a:highlight>
                  <a:srgbClr val="000000"/>
                </a:highlight>
              </a:rPr>
              <a:t>Load course data</a:t>
            </a:r>
          </a:p>
        </p:txBody>
      </p:sp>
      <p:sp>
        <p:nvSpPr>
          <p:cNvPr id="7" name="TextBox 6">
            <a:extLst>
              <a:ext uri="{FF2B5EF4-FFF2-40B4-BE49-F238E27FC236}">
                <a16:creationId xmlns:a16="http://schemas.microsoft.com/office/drawing/2014/main" id="{FB2127BF-0F84-8E7D-9A8D-708ACC13D345}"/>
              </a:ext>
            </a:extLst>
          </p:cNvPr>
          <p:cNvSpPr txBox="1"/>
          <p:nvPr/>
        </p:nvSpPr>
        <p:spPr>
          <a:xfrm>
            <a:off x="457200" y="4738694"/>
            <a:ext cx="8384345" cy="707886"/>
          </a:xfrm>
          <a:prstGeom prst="rect">
            <a:avLst/>
          </a:prstGeom>
          <a:noFill/>
        </p:spPr>
        <p:txBody>
          <a:bodyPr wrap="square">
            <a:spAutoFit/>
          </a:bodyPr>
          <a:lstStyle/>
          <a:p>
            <a:r>
              <a:rPr lang="en-US" sz="2000" b="1" dirty="0"/>
              <a:t>See the code in the notebook</a:t>
            </a:r>
            <a:endParaRPr lang="en-US" sz="2000" dirty="0"/>
          </a:p>
          <a:p>
            <a:endParaRPr lang="en-US" sz="2000" dirty="0"/>
          </a:p>
        </p:txBody>
      </p:sp>
    </p:spTree>
    <p:extLst>
      <p:ext uri="{BB962C8B-B14F-4D97-AF65-F5344CB8AC3E}">
        <p14:creationId xmlns:p14="http://schemas.microsoft.com/office/powerpoint/2010/main" val="16501651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4FD70-4F40-47E7-296F-AED10187B3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1E075C-ACDE-7A35-FC3E-B1922B139225}"/>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defTabSz="914400">
              <a:lnSpc>
                <a:spcPct val="90000"/>
              </a:lnSpc>
            </a:pPr>
            <a:r>
              <a:rPr lang="en-US" sz="2800" kern="1200">
                <a:solidFill>
                  <a:schemeClr val="bg1"/>
                </a:solidFill>
                <a:latin typeface="+mj-lt"/>
                <a:ea typeface="+mj-ea"/>
                <a:cs typeface="+mj-cs"/>
              </a:rPr>
              <a:t>What is DatBricks?</a:t>
            </a:r>
          </a:p>
        </p:txBody>
      </p:sp>
      <p:sp>
        <p:nvSpPr>
          <p:cNvPr id="3" name="Title 1">
            <a:extLst>
              <a:ext uri="{FF2B5EF4-FFF2-40B4-BE49-F238E27FC236}">
                <a16:creationId xmlns:a16="http://schemas.microsoft.com/office/drawing/2014/main" id="{5E91163B-9A17-8F9F-5B82-990F30ED8770}"/>
              </a:ext>
            </a:extLst>
          </p:cNvPr>
          <p:cNvSpPr txBox="1">
            <a:spLocks/>
          </p:cNvSpPr>
          <p:nvPr/>
        </p:nvSpPr>
        <p:spPr>
          <a:xfrm>
            <a:off x="569799" y="795867"/>
            <a:ext cx="8408193" cy="744836"/>
          </a:xfrm>
          <a:prstGeom prst="rect">
            <a:avLst/>
          </a:prstGeom>
          <a:solidFill>
            <a:schemeClr val="tx1"/>
          </a:solid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defTabSz="914400">
              <a:lnSpc>
                <a:spcPct val="90000"/>
              </a:lnSpc>
            </a:pPr>
            <a:r>
              <a:rPr lang="en-US" sz="2800" dirty="0">
                <a:solidFill>
                  <a:schemeClr val="bg1"/>
                </a:solidFill>
                <a:highlight>
                  <a:srgbClr val="000000"/>
                </a:highlight>
              </a:rPr>
              <a:t>Query the table</a:t>
            </a:r>
          </a:p>
        </p:txBody>
      </p:sp>
      <p:sp>
        <p:nvSpPr>
          <p:cNvPr id="4" name="TextBox 3">
            <a:extLst>
              <a:ext uri="{FF2B5EF4-FFF2-40B4-BE49-F238E27FC236}">
                <a16:creationId xmlns:a16="http://schemas.microsoft.com/office/drawing/2014/main" id="{610088CC-8098-0039-CE8E-6732DF5B3BF2}"/>
              </a:ext>
            </a:extLst>
          </p:cNvPr>
          <p:cNvSpPr txBox="1"/>
          <p:nvPr/>
        </p:nvSpPr>
        <p:spPr>
          <a:xfrm>
            <a:off x="457200" y="2140622"/>
            <a:ext cx="8384345" cy="707886"/>
          </a:xfrm>
          <a:prstGeom prst="rect">
            <a:avLst/>
          </a:prstGeom>
          <a:noFill/>
        </p:spPr>
        <p:txBody>
          <a:bodyPr wrap="square">
            <a:spAutoFit/>
          </a:bodyPr>
          <a:lstStyle/>
          <a:p>
            <a:r>
              <a:rPr lang="en-US" sz="2000" b="1" dirty="0"/>
              <a:t>See the code in the notebook</a:t>
            </a:r>
            <a:endParaRPr lang="en-US" sz="2000" dirty="0"/>
          </a:p>
          <a:p>
            <a:endParaRPr lang="en-US" sz="2000" dirty="0"/>
          </a:p>
        </p:txBody>
      </p:sp>
    </p:spTree>
    <p:extLst>
      <p:ext uri="{BB962C8B-B14F-4D97-AF65-F5344CB8AC3E}">
        <p14:creationId xmlns:p14="http://schemas.microsoft.com/office/powerpoint/2010/main" val="37390275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13B1B-A874-412B-E35B-0D1316D55A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9B7D83-BFBC-B3F2-658F-F77626ECD7E6}"/>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defTabSz="914400">
              <a:lnSpc>
                <a:spcPct val="90000"/>
              </a:lnSpc>
            </a:pPr>
            <a:r>
              <a:rPr lang="en-US" sz="2800" kern="1200">
                <a:solidFill>
                  <a:schemeClr val="bg1"/>
                </a:solidFill>
                <a:latin typeface="+mj-lt"/>
                <a:ea typeface="+mj-ea"/>
                <a:cs typeface="+mj-cs"/>
              </a:rPr>
              <a:t>What is DatBricks?</a:t>
            </a:r>
          </a:p>
        </p:txBody>
      </p:sp>
      <p:sp>
        <p:nvSpPr>
          <p:cNvPr id="3" name="Title 1">
            <a:extLst>
              <a:ext uri="{FF2B5EF4-FFF2-40B4-BE49-F238E27FC236}">
                <a16:creationId xmlns:a16="http://schemas.microsoft.com/office/drawing/2014/main" id="{8304C82E-E661-FD91-950B-3CCAB3A0A41C}"/>
              </a:ext>
            </a:extLst>
          </p:cNvPr>
          <p:cNvSpPr txBox="1">
            <a:spLocks/>
          </p:cNvSpPr>
          <p:nvPr/>
        </p:nvSpPr>
        <p:spPr>
          <a:xfrm>
            <a:off x="569799" y="795867"/>
            <a:ext cx="8408193" cy="744836"/>
          </a:xfrm>
          <a:prstGeom prst="rect">
            <a:avLst/>
          </a:prstGeom>
          <a:solidFill>
            <a:schemeClr val="tx1"/>
          </a:solid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defTabSz="914400">
              <a:lnSpc>
                <a:spcPct val="90000"/>
              </a:lnSpc>
            </a:pPr>
            <a:r>
              <a:rPr lang="en-US" sz="2800" dirty="0">
                <a:solidFill>
                  <a:schemeClr val="bg1"/>
                </a:solidFill>
                <a:highlight>
                  <a:srgbClr val="000000"/>
                </a:highlight>
              </a:rPr>
              <a:t>Run a notebook</a:t>
            </a:r>
          </a:p>
        </p:txBody>
      </p:sp>
      <p:sp>
        <p:nvSpPr>
          <p:cNvPr id="4" name="TextBox 3">
            <a:extLst>
              <a:ext uri="{FF2B5EF4-FFF2-40B4-BE49-F238E27FC236}">
                <a16:creationId xmlns:a16="http://schemas.microsoft.com/office/drawing/2014/main" id="{CBA83115-13D5-4430-6AA8-CAFD65ED6AE0}"/>
              </a:ext>
            </a:extLst>
          </p:cNvPr>
          <p:cNvSpPr txBox="1"/>
          <p:nvPr/>
        </p:nvSpPr>
        <p:spPr>
          <a:xfrm>
            <a:off x="457200" y="2140622"/>
            <a:ext cx="8384345" cy="1015663"/>
          </a:xfrm>
          <a:prstGeom prst="rect">
            <a:avLst/>
          </a:prstGeom>
          <a:noFill/>
        </p:spPr>
        <p:txBody>
          <a:bodyPr wrap="square">
            <a:spAutoFit/>
          </a:bodyPr>
          <a:lstStyle/>
          <a:p>
            <a:r>
              <a:rPr lang="en-US" sz="2000" dirty="0"/>
              <a:t>To run any Notebook you need either a node(single computer) or a cluster(group of computers)</a:t>
            </a:r>
          </a:p>
          <a:p>
            <a:endParaRPr lang="en-US" sz="2000" dirty="0"/>
          </a:p>
        </p:txBody>
      </p:sp>
    </p:spTree>
    <p:extLst>
      <p:ext uri="{BB962C8B-B14F-4D97-AF65-F5344CB8AC3E}">
        <p14:creationId xmlns:p14="http://schemas.microsoft.com/office/powerpoint/2010/main" val="11207251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EB53B-8AB8-1C8E-6513-758AFC4BD9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CDB721-030C-2A9A-481D-855695923BB9}"/>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defTabSz="914400">
              <a:lnSpc>
                <a:spcPct val="90000"/>
              </a:lnSpc>
            </a:pPr>
            <a:r>
              <a:rPr lang="en-US" sz="2800" kern="1200">
                <a:solidFill>
                  <a:schemeClr val="bg1"/>
                </a:solidFill>
                <a:latin typeface="+mj-lt"/>
                <a:ea typeface="+mj-ea"/>
                <a:cs typeface="+mj-cs"/>
              </a:rPr>
              <a:t>What is DatBricks?</a:t>
            </a:r>
          </a:p>
        </p:txBody>
      </p:sp>
      <p:sp>
        <p:nvSpPr>
          <p:cNvPr id="3" name="Title 1">
            <a:extLst>
              <a:ext uri="{FF2B5EF4-FFF2-40B4-BE49-F238E27FC236}">
                <a16:creationId xmlns:a16="http://schemas.microsoft.com/office/drawing/2014/main" id="{66C7CB99-CB67-2173-6ABD-9376095B7E63}"/>
              </a:ext>
            </a:extLst>
          </p:cNvPr>
          <p:cNvSpPr txBox="1">
            <a:spLocks/>
          </p:cNvSpPr>
          <p:nvPr/>
        </p:nvSpPr>
        <p:spPr>
          <a:xfrm>
            <a:off x="569799" y="795867"/>
            <a:ext cx="8408193" cy="744836"/>
          </a:xfrm>
          <a:prstGeom prst="rect">
            <a:avLst/>
          </a:prstGeom>
          <a:solidFill>
            <a:schemeClr val="tx1"/>
          </a:solid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defTabSz="914400">
              <a:lnSpc>
                <a:spcPct val="90000"/>
              </a:lnSpc>
            </a:pPr>
            <a:r>
              <a:rPr lang="en-US" sz="2800" dirty="0">
                <a:solidFill>
                  <a:schemeClr val="bg1"/>
                </a:solidFill>
                <a:highlight>
                  <a:srgbClr val="000000"/>
                </a:highlight>
              </a:rPr>
              <a:t>Run a notebook</a:t>
            </a:r>
          </a:p>
        </p:txBody>
      </p:sp>
      <p:sp>
        <p:nvSpPr>
          <p:cNvPr id="4" name="TextBox 3">
            <a:extLst>
              <a:ext uri="{FF2B5EF4-FFF2-40B4-BE49-F238E27FC236}">
                <a16:creationId xmlns:a16="http://schemas.microsoft.com/office/drawing/2014/main" id="{C9881ED5-62F6-AEB0-9D9D-3E82C9B5FBCE}"/>
              </a:ext>
            </a:extLst>
          </p:cNvPr>
          <p:cNvSpPr txBox="1"/>
          <p:nvPr/>
        </p:nvSpPr>
        <p:spPr>
          <a:xfrm>
            <a:off x="457200" y="2140622"/>
            <a:ext cx="8384345" cy="1015663"/>
          </a:xfrm>
          <a:prstGeom prst="rect">
            <a:avLst/>
          </a:prstGeom>
          <a:noFill/>
        </p:spPr>
        <p:txBody>
          <a:bodyPr wrap="square">
            <a:spAutoFit/>
          </a:bodyPr>
          <a:lstStyle/>
          <a:p>
            <a:r>
              <a:rPr lang="en-US" sz="2000" dirty="0"/>
              <a:t>To run any Notebook you need either a node(single computer) or a cluster(group of computers)</a:t>
            </a:r>
          </a:p>
          <a:p>
            <a:endParaRPr lang="en-US" sz="2000" dirty="0"/>
          </a:p>
        </p:txBody>
      </p:sp>
    </p:spTree>
    <p:extLst>
      <p:ext uri="{BB962C8B-B14F-4D97-AF65-F5344CB8AC3E}">
        <p14:creationId xmlns:p14="http://schemas.microsoft.com/office/powerpoint/2010/main" val="3885298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20B95-F9E5-0296-B125-E35801AA6D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B821D3-4DD9-18DE-7F5A-119435E2A15C}"/>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defTabSz="914400">
              <a:lnSpc>
                <a:spcPct val="90000"/>
              </a:lnSpc>
            </a:pPr>
            <a:r>
              <a:rPr lang="en-US" sz="2800" kern="1200">
                <a:solidFill>
                  <a:schemeClr val="bg1"/>
                </a:solidFill>
                <a:latin typeface="+mj-lt"/>
                <a:ea typeface="+mj-ea"/>
                <a:cs typeface="+mj-cs"/>
              </a:rPr>
              <a:t>What is DatBricks?</a:t>
            </a:r>
          </a:p>
        </p:txBody>
      </p:sp>
      <p:sp>
        <p:nvSpPr>
          <p:cNvPr id="3" name="Title 1">
            <a:extLst>
              <a:ext uri="{FF2B5EF4-FFF2-40B4-BE49-F238E27FC236}">
                <a16:creationId xmlns:a16="http://schemas.microsoft.com/office/drawing/2014/main" id="{5E8D3F35-B111-EAF6-5CBA-1E7851863EF2}"/>
              </a:ext>
            </a:extLst>
          </p:cNvPr>
          <p:cNvSpPr txBox="1">
            <a:spLocks/>
          </p:cNvSpPr>
          <p:nvPr/>
        </p:nvSpPr>
        <p:spPr>
          <a:xfrm>
            <a:off x="569799" y="795867"/>
            <a:ext cx="8408193" cy="744836"/>
          </a:xfrm>
          <a:prstGeom prst="rect">
            <a:avLst/>
          </a:prstGeom>
          <a:solidFill>
            <a:schemeClr val="tx1"/>
          </a:solid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defTabSz="914400">
              <a:lnSpc>
                <a:spcPct val="90000"/>
              </a:lnSpc>
            </a:pPr>
            <a:r>
              <a:rPr lang="en-US" sz="2800" dirty="0">
                <a:solidFill>
                  <a:schemeClr val="bg1"/>
                </a:solidFill>
                <a:highlight>
                  <a:srgbClr val="000000"/>
                </a:highlight>
              </a:rPr>
              <a:t>Dat Enginneering ETL/ELT</a:t>
            </a:r>
          </a:p>
        </p:txBody>
      </p:sp>
      <p:sp>
        <p:nvSpPr>
          <p:cNvPr id="4" name="TextBox 3">
            <a:extLst>
              <a:ext uri="{FF2B5EF4-FFF2-40B4-BE49-F238E27FC236}">
                <a16:creationId xmlns:a16="http://schemas.microsoft.com/office/drawing/2014/main" id="{269642E5-4BA1-1361-BFF9-2E79CE734541}"/>
              </a:ext>
            </a:extLst>
          </p:cNvPr>
          <p:cNvSpPr txBox="1"/>
          <p:nvPr/>
        </p:nvSpPr>
        <p:spPr>
          <a:xfrm>
            <a:off x="593647" y="1957742"/>
            <a:ext cx="8384345" cy="4708981"/>
          </a:xfrm>
          <a:prstGeom prst="rect">
            <a:avLst/>
          </a:prstGeom>
          <a:noFill/>
        </p:spPr>
        <p:txBody>
          <a:bodyPr wrap="square">
            <a:spAutoFit/>
          </a:bodyPr>
          <a:lstStyle/>
          <a:p>
            <a:r>
              <a:rPr lang="en-US" sz="2000" b="1" dirty="0"/>
              <a:t>Extract</a:t>
            </a:r>
          </a:p>
          <a:p>
            <a:r>
              <a:rPr lang="en-US" sz="2000" dirty="0"/>
              <a:t>	- What: Read from the source system</a:t>
            </a:r>
          </a:p>
          <a:p>
            <a:r>
              <a:rPr lang="en-US" sz="2000" dirty="0"/>
              <a:t>	- How:  Ingestions tools/Spark Source System Connector</a:t>
            </a:r>
          </a:p>
          <a:p>
            <a:r>
              <a:rPr lang="en-US" sz="2000" b="1" dirty="0"/>
              <a:t>Load</a:t>
            </a:r>
          </a:p>
          <a:p>
            <a:r>
              <a:rPr lang="en-US" sz="2000" dirty="0"/>
              <a:t>	- What: Save to Data Lake</a:t>
            </a:r>
          </a:p>
          <a:p>
            <a:r>
              <a:rPr lang="en-US" sz="2000" dirty="0"/>
              <a:t>	- How:  Ingestions tools/Spark Source System Connector</a:t>
            </a:r>
          </a:p>
          <a:p>
            <a:endParaRPr lang="en-US" sz="2000" dirty="0"/>
          </a:p>
          <a:p>
            <a:r>
              <a:rPr lang="en-US" sz="2000" b="1" dirty="0"/>
              <a:t>Transform</a:t>
            </a:r>
          </a:p>
          <a:p>
            <a:r>
              <a:rPr lang="en-US" sz="2000" dirty="0"/>
              <a:t>	- What: Process/Prepare data as per your requirement</a:t>
            </a:r>
          </a:p>
          <a:p>
            <a:r>
              <a:rPr lang="en-US" sz="2000" dirty="0"/>
              <a:t>	- How:  Spark </a:t>
            </a:r>
            <a:r>
              <a:rPr lang="en-US" sz="2000" dirty="0" err="1"/>
              <a:t>Dataframe</a:t>
            </a:r>
            <a:r>
              <a:rPr lang="en-US" sz="2000" dirty="0"/>
              <a:t>/Spark SQL</a:t>
            </a:r>
          </a:p>
          <a:p>
            <a:r>
              <a:rPr lang="en-US" sz="2000" dirty="0"/>
              <a:t>		1. Read from data lake: Spark Session</a:t>
            </a:r>
          </a:p>
          <a:p>
            <a:r>
              <a:rPr lang="en-US" sz="2000" dirty="0"/>
              <a:t>		2. Transform: </a:t>
            </a:r>
            <a:r>
              <a:rPr lang="en-US" sz="2000" dirty="0" err="1"/>
              <a:t>Dataframe</a:t>
            </a:r>
            <a:r>
              <a:rPr lang="en-US" sz="2000" dirty="0"/>
              <a:t>/SQL</a:t>
            </a:r>
          </a:p>
          <a:p>
            <a:r>
              <a:rPr lang="en-US" sz="2000" dirty="0"/>
              <a:t>		3. Save: </a:t>
            </a:r>
            <a:r>
              <a:rPr lang="en-US" sz="2000" dirty="0" err="1"/>
              <a:t>Dataframe</a:t>
            </a:r>
            <a:r>
              <a:rPr lang="en-US" sz="2000" dirty="0"/>
              <a:t>/SQL</a:t>
            </a:r>
          </a:p>
          <a:p>
            <a:endParaRPr lang="en-US" sz="2000" dirty="0"/>
          </a:p>
          <a:p>
            <a:r>
              <a:rPr lang="en-US" sz="2000" dirty="0"/>
              <a:t>The order of applying them varies. </a:t>
            </a:r>
            <a:r>
              <a:rPr lang="en-US" sz="2000" dirty="0">
                <a:highlight>
                  <a:srgbClr val="FFFF00"/>
                </a:highlight>
              </a:rPr>
              <a:t>Apache ONLY SUPPORTS </a:t>
            </a:r>
            <a:r>
              <a:rPr lang="en-US" sz="2000" b="1" dirty="0">
                <a:highlight>
                  <a:srgbClr val="FFFF00"/>
                </a:highlight>
              </a:rPr>
              <a:t>ELT</a:t>
            </a:r>
          </a:p>
        </p:txBody>
      </p:sp>
    </p:spTree>
    <p:extLst>
      <p:ext uri="{BB962C8B-B14F-4D97-AF65-F5344CB8AC3E}">
        <p14:creationId xmlns:p14="http://schemas.microsoft.com/office/powerpoint/2010/main" val="31090919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F0A604E4-7307-451C-93BE-F1F7E1BF3B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44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F7F3A0AA-35E5-4085-942B-7378390306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282344"/>
            <a:ext cx="9143997" cy="1590742"/>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402F5C38-C747-4173-ABBF-656E39E821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5282344"/>
            <a:ext cx="6086475" cy="1590742"/>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E37EECFC-A684-4391-AE85-4CDAF5565F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5282344"/>
            <a:ext cx="9143998" cy="1590742"/>
          </a:xfrm>
          <a:prstGeom prst="rect">
            <a:avLst/>
          </a:prstGeom>
          <a:gradFill>
            <a:gsLst>
              <a:gs pos="0">
                <a:srgbClr val="000000">
                  <a:alpha val="71765"/>
                </a:srgbClr>
              </a:gs>
              <a:gs pos="100000">
                <a:schemeClr val="accent1">
                  <a:alpha val="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D53CE0A3-E7CC-B460-2D26-803B1BD3AB47}"/>
              </a:ext>
            </a:extLst>
          </p:cNvPr>
          <p:cNvSpPr txBox="1">
            <a:spLocks/>
          </p:cNvSpPr>
          <p:nvPr/>
        </p:nvSpPr>
        <p:spPr>
          <a:xfrm>
            <a:off x="524785" y="5490971"/>
            <a:ext cx="5221554" cy="11592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defTabSz="914400">
              <a:lnSpc>
                <a:spcPct val="90000"/>
              </a:lnSpc>
              <a:spcAft>
                <a:spcPts val="600"/>
              </a:spcAft>
            </a:pPr>
            <a:r>
              <a:rPr lang="en-US" sz="3500" kern="1200" dirty="0">
                <a:solidFill>
                  <a:srgbClr val="FFFFFF"/>
                </a:solidFill>
                <a:latin typeface="+mj-lt"/>
                <a:ea typeface="+mj-ea"/>
                <a:cs typeface="+mj-cs"/>
              </a:rPr>
              <a:t>What is </a:t>
            </a:r>
            <a:r>
              <a:rPr lang="en-US" sz="3500" kern="1200" dirty="0" err="1">
                <a:solidFill>
                  <a:srgbClr val="FFFFFF"/>
                </a:solidFill>
                <a:latin typeface="+mj-lt"/>
                <a:ea typeface="+mj-ea"/>
                <a:cs typeface="+mj-cs"/>
              </a:rPr>
              <a:t>DatBricks</a:t>
            </a:r>
            <a:r>
              <a:rPr lang="en-US" sz="3500" kern="1200" dirty="0">
                <a:solidFill>
                  <a:srgbClr val="FFFFFF"/>
                </a:solidFill>
                <a:latin typeface="+mj-lt"/>
                <a:ea typeface="+mj-ea"/>
                <a:cs typeface="+mj-cs"/>
              </a:rPr>
              <a:t>?</a:t>
            </a:r>
          </a:p>
        </p:txBody>
      </p:sp>
      <p:sp>
        <p:nvSpPr>
          <p:cNvPr id="7" name="Title 1">
            <a:extLst>
              <a:ext uri="{FF2B5EF4-FFF2-40B4-BE49-F238E27FC236}">
                <a16:creationId xmlns:a16="http://schemas.microsoft.com/office/drawing/2014/main" id="{71F0A81C-8E8F-C61A-EF43-52400D6EA78B}"/>
              </a:ext>
            </a:extLst>
          </p:cNvPr>
          <p:cNvSpPr txBox="1">
            <a:spLocks/>
          </p:cNvSpPr>
          <p:nvPr/>
        </p:nvSpPr>
        <p:spPr>
          <a:xfrm>
            <a:off x="6342391" y="5633765"/>
            <a:ext cx="2556416" cy="873612"/>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defTabSz="914400">
              <a:lnSpc>
                <a:spcPct val="90000"/>
              </a:lnSpc>
              <a:spcBef>
                <a:spcPts val="1000"/>
              </a:spcBef>
            </a:pPr>
            <a:r>
              <a:rPr lang="en-US" sz="1700" kern="1200" dirty="0">
                <a:solidFill>
                  <a:srgbClr val="FFFFFF"/>
                </a:solidFill>
                <a:highlight>
                  <a:srgbClr val="000000"/>
                </a:highlight>
                <a:latin typeface="+mn-lt"/>
                <a:ea typeface="+mn-ea"/>
                <a:cs typeface="+mn-cs"/>
              </a:rPr>
              <a:t>Spark Session</a:t>
            </a:r>
          </a:p>
        </p:txBody>
      </p:sp>
      <p:pic>
        <p:nvPicPr>
          <p:cNvPr id="5" name="Picture 4">
            <a:extLst>
              <a:ext uri="{FF2B5EF4-FFF2-40B4-BE49-F238E27FC236}">
                <a16:creationId xmlns:a16="http://schemas.microsoft.com/office/drawing/2014/main" id="{80FC0D80-F2AC-84B7-3D34-E4C32F2F956C}"/>
              </a:ext>
            </a:extLst>
          </p:cNvPr>
          <p:cNvPicPr>
            <a:picLocks noChangeAspect="1"/>
          </p:cNvPicPr>
          <p:nvPr/>
        </p:nvPicPr>
        <p:blipFill>
          <a:blip r:embed="rId2"/>
          <a:srcRect l="12155" t="23149" r="39383" b="26443"/>
          <a:stretch>
            <a:fillRect/>
          </a:stretch>
        </p:blipFill>
        <p:spPr>
          <a:xfrm>
            <a:off x="565194" y="390832"/>
            <a:ext cx="8083076" cy="4519114"/>
          </a:xfrm>
          <a:prstGeom prst="rect">
            <a:avLst/>
          </a:prstGeom>
        </p:spPr>
      </p:pic>
    </p:spTree>
    <p:extLst>
      <p:ext uri="{BB962C8B-B14F-4D97-AF65-F5344CB8AC3E}">
        <p14:creationId xmlns:p14="http://schemas.microsoft.com/office/powerpoint/2010/main" val="18473488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D936A-E8DC-63E9-EE95-B95F51FCDB83}"/>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FC6CB21E-C4BF-71C8-CF9E-1936E4980342}"/>
              </a:ext>
            </a:extLst>
          </p:cNvPr>
          <p:cNvSpPr txBox="1">
            <a:spLocks/>
          </p:cNvSpPr>
          <p:nvPr/>
        </p:nvSpPr>
        <p:spPr>
          <a:xfrm>
            <a:off x="565194" y="0"/>
            <a:ext cx="5221554" cy="11592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defTabSz="914400">
              <a:lnSpc>
                <a:spcPct val="90000"/>
              </a:lnSpc>
              <a:spcAft>
                <a:spcPts val="600"/>
              </a:spcAft>
            </a:pPr>
            <a:r>
              <a:rPr lang="en-US" sz="3500" kern="1200" dirty="0">
                <a:latin typeface="+mj-lt"/>
                <a:ea typeface="+mj-ea"/>
                <a:cs typeface="+mj-cs"/>
              </a:rPr>
              <a:t>How to create a Spark session?</a:t>
            </a:r>
          </a:p>
        </p:txBody>
      </p:sp>
      <p:sp>
        <p:nvSpPr>
          <p:cNvPr id="7" name="Title 1">
            <a:extLst>
              <a:ext uri="{FF2B5EF4-FFF2-40B4-BE49-F238E27FC236}">
                <a16:creationId xmlns:a16="http://schemas.microsoft.com/office/drawing/2014/main" id="{9858B771-AB62-75DC-6A9F-229D55CFCF39}"/>
              </a:ext>
            </a:extLst>
          </p:cNvPr>
          <p:cNvSpPr txBox="1">
            <a:spLocks/>
          </p:cNvSpPr>
          <p:nvPr/>
        </p:nvSpPr>
        <p:spPr>
          <a:xfrm>
            <a:off x="6483068" y="5922153"/>
            <a:ext cx="2556416" cy="873612"/>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defTabSz="914400">
              <a:lnSpc>
                <a:spcPct val="90000"/>
              </a:lnSpc>
              <a:spcBef>
                <a:spcPts val="1000"/>
              </a:spcBef>
            </a:pPr>
            <a:r>
              <a:rPr lang="en-US" sz="1700" kern="1200" dirty="0">
                <a:solidFill>
                  <a:srgbClr val="FFFFFF"/>
                </a:solidFill>
                <a:highlight>
                  <a:srgbClr val="000000"/>
                </a:highlight>
                <a:latin typeface="+mn-lt"/>
                <a:ea typeface="+mn-ea"/>
                <a:cs typeface="+mn-cs"/>
              </a:rPr>
              <a:t>Spark Session</a:t>
            </a:r>
          </a:p>
        </p:txBody>
      </p:sp>
      <p:sp>
        <p:nvSpPr>
          <p:cNvPr id="2" name="TextBox 1">
            <a:extLst>
              <a:ext uri="{FF2B5EF4-FFF2-40B4-BE49-F238E27FC236}">
                <a16:creationId xmlns:a16="http://schemas.microsoft.com/office/drawing/2014/main" id="{F697EE79-865A-C819-72A8-2E43E51BD32D}"/>
              </a:ext>
            </a:extLst>
          </p:cNvPr>
          <p:cNvSpPr txBox="1"/>
          <p:nvPr/>
        </p:nvSpPr>
        <p:spPr>
          <a:xfrm>
            <a:off x="593647" y="1352831"/>
            <a:ext cx="8384345" cy="2062103"/>
          </a:xfrm>
          <a:prstGeom prst="rect">
            <a:avLst/>
          </a:prstGeom>
          <a:noFill/>
        </p:spPr>
        <p:txBody>
          <a:bodyPr wrap="square">
            <a:spAutoFit/>
          </a:bodyPr>
          <a:lstStyle/>
          <a:p>
            <a:r>
              <a:rPr lang="en-US" sz="2800" b="1" dirty="0"/>
              <a:t>Two main ways:</a:t>
            </a:r>
          </a:p>
          <a:p>
            <a:endParaRPr lang="en-US" sz="2000" b="1" dirty="0"/>
          </a:p>
          <a:p>
            <a:r>
              <a:rPr lang="en-US" sz="2000" b="1" dirty="0"/>
              <a:t>Spark session builder</a:t>
            </a:r>
          </a:p>
          <a:p>
            <a:r>
              <a:rPr lang="en-US" sz="2000" dirty="0"/>
              <a:t>	- Server Side</a:t>
            </a:r>
          </a:p>
          <a:p>
            <a:r>
              <a:rPr lang="en-US" sz="2000" b="1" dirty="0"/>
              <a:t>Spark Connect Session builder</a:t>
            </a:r>
          </a:p>
          <a:p>
            <a:r>
              <a:rPr lang="en-US" sz="2000" dirty="0"/>
              <a:t>	- Client Server</a:t>
            </a:r>
          </a:p>
        </p:txBody>
      </p:sp>
    </p:spTree>
    <p:extLst>
      <p:ext uri="{BB962C8B-B14F-4D97-AF65-F5344CB8AC3E}">
        <p14:creationId xmlns:p14="http://schemas.microsoft.com/office/powerpoint/2010/main" val="36713674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2396</TotalTime>
  <Words>1126</Words>
  <Application>Microsoft Office PowerPoint</Application>
  <PresentationFormat>On-screen Show (4:3)</PresentationFormat>
  <Paragraphs>132</Paragraphs>
  <Slides>18</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Understanding Big Data and Distributed Data Processing</vt:lpstr>
      <vt:lpstr>Understanding Big Data and Distributed Data Processing</vt:lpstr>
      <vt:lpstr>Spark vs MapReduce &amp; RDDs</vt:lpstr>
      <vt:lpstr>SETTING UP PYTHON WITH SPARK</vt:lpstr>
      <vt:lpstr>Architecture</vt:lpstr>
      <vt:lpstr>Architecture</vt:lpstr>
      <vt:lpstr>Spark needs a development environment</vt:lpstr>
      <vt:lpstr>What is DatBricks?</vt:lpstr>
      <vt:lpstr>PowerPoint Presentation</vt:lpstr>
      <vt:lpstr>What is DatBricks?</vt:lpstr>
      <vt:lpstr>What is DatBricks?</vt:lpstr>
      <vt:lpstr>What is DatBricks?</vt:lpstr>
      <vt:lpstr>What is DatBricks?</vt:lpstr>
      <vt:lpstr>What is DatBricks?</vt:lpstr>
      <vt:lpstr>What is DatBricks?</vt:lpstr>
      <vt:lpstr>What is DatBricks?</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Alejandra Riba Vaca</cp:lastModifiedBy>
  <cp:revision>38</cp:revision>
  <dcterms:created xsi:type="dcterms:W3CDTF">2013-01-27T09:14:16Z</dcterms:created>
  <dcterms:modified xsi:type="dcterms:W3CDTF">2026-03-31T17:49:42Z</dcterms:modified>
  <cp:category/>
</cp:coreProperties>
</file>